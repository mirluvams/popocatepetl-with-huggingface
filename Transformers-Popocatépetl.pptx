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0" r:id="rId14"/>
    <p:sldId id="271" r:id="rId15"/>
    <p:sldId id="273" r:id="rId16"/>
    <p:sldId id="274" r:id="rId17"/>
    <p:sldId id="275" r:id="rId18"/>
    <p:sldId id="276" r:id="rId19"/>
    <p:sldId id="277" r:id="rId20"/>
    <p:sldId id="278" r:id="rId21"/>
    <p:sldId id="289" r:id="rId22"/>
    <p:sldId id="279" r:id="rId23"/>
    <p:sldId id="280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1" r:id="rId32"/>
    <p:sldId id="290" r:id="rId33"/>
    <p:sldId id="291" r:id="rId34"/>
    <p:sldId id="292" r:id="rId35"/>
    <p:sldId id="293" r:id="rId36"/>
    <p:sldId id="294" r:id="rId37"/>
  </p:sldIdLst>
  <p:sldSz cx="18288000" cy="10287000"/>
  <p:notesSz cx="6858000" cy="9144000"/>
  <p:embeddedFontLst>
    <p:embeddedFont>
      <p:font typeface="Arial Narrow" panose="020B0606020202030204" pitchFamily="34" charset="0"/>
      <p:regular r:id="rId38"/>
      <p:bold r:id="rId39"/>
      <p:italic r:id="rId40"/>
      <p:boldItalic r:id="rId41"/>
    </p:embeddedFont>
    <p:embeddedFont>
      <p:font typeface="Calibri" panose="020F0502020204030204" pitchFamily="34" charset="0"/>
      <p:regular r:id="rId42"/>
      <p:bold r:id="rId43"/>
      <p:italic r:id="rId44"/>
      <p:boldItalic r:id="rId45"/>
    </p:embeddedFont>
    <p:embeddedFont>
      <p:font typeface="Cambria Math" panose="02040503050406030204" pitchFamily="18" charset="0"/>
      <p:regular r:id="rId46"/>
    </p:embeddedFont>
    <p:embeddedFont>
      <p:font typeface="Canva Sans" panose="020B0604020202020204" charset="0"/>
      <p:regular r:id="rId47"/>
    </p:embeddedFont>
    <p:embeddedFont>
      <p:font typeface="Canva Sans Bold" panose="020B0604020202020204" charset="0"/>
      <p:regular r:id="rId48"/>
    </p:embeddedFont>
    <p:embeddedFont>
      <p:font typeface="Canva Sans Bold Italics" panose="020B0604020202020204" charset="0"/>
      <p:regular r:id="rId49"/>
    </p:embeddedFont>
    <p:embeddedFont>
      <p:font typeface="Canva Sans Italics" panose="020B0604020202020204" charset="0"/>
      <p:regular r:id="rId50"/>
    </p:embeddedFont>
    <p:embeddedFont>
      <p:font typeface="Open Sans" panose="020B0606030504020204" pitchFamily="34" charset="0"/>
      <p:regular r:id="rId51"/>
      <p:bold r:id="rId52"/>
      <p:italic r:id="rId53"/>
      <p:boldItalic r:id="rId54"/>
    </p:embeddedFont>
    <p:embeddedFont>
      <p:font typeface="Open Sans Bold" panose="020B0806030504020204" charset="0"/>
      <p:regular r:id="rId55"/>
    </p:embeddedFont>
    <p:embeddedFont>
      <p:font typeface="Red Hat Display" panose="020B0604020202020204" charset="0"/>
      <p:regular r:id="rId56"/>
    </p:embeddedFont>
    <p:embeddedFont>
      <p:font typeface="Red Hat Display Bold" panose="020B0604020202020204" charset="0"/>
      <p:regular r:id="rId5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946" y="3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5.fntdata"/><Relationship Id="rId47" Type="http://schemas.openxmlformats.org/officeDocument/2006/relationships/font" Target="fonts/font10.fntdata"/><Relationship Id="rId50" Type="http://schemas.openxmlformats.org/officeDocument/2006/relationships/font" Target="fonts/font13.fntdata"/><Relationship Id="rId55" Type="http://schemas.openxmlformats.org/officeDocument/2006/relationships/font" Target="fonts/font18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3.fntdata"/><Relationship Id="rId45" Type="http://schemas.openxmlformats.org/officeDocument/2006/relationships/font" Target="fonts/font8.fntdata"/><Relationship Id="rId53" Type="http://schemas.openxmlformats.org/officeDocument/2006/relationships/font" Target="fonts/font16.fntdata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6.fntdata"/><Relationship Id="rId48" Type="http://schemas.openxmlformats.org/officeDocument/2006/relationships/font" Target="fonts/font11.fntdata"/><Relationship Id="rId56" Type="http://schemas.openxmlformats.org/officeDocument/2006/relationships/font" Target="fonts/font19.fntdata"/><Relationship Id="rId8" Type="http://schemas.openxmlformats.org/officeDocument/2006/relationships/slide" Target="slides/slide7.xml"/><Relationship Id="rId51" Type="http://schemas.openxmlformats.org/officeDocument/2006/relationships/font" Target="fonts/font14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1.fntdata"/><Relationship Id="rId46" Type="http://schemas.openxmlformats.org/officeDocument/2006/relationships/font" Target="fonts/font9.fntdata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font" Target="fonts/font4.fntdata"/><Relationship Id="rId54" Type="http://schemas.openxmlformats.org/officeDocument/2006/relationships/font" Target="fonts/font1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2.fntdata"/><Relationship Id="rId57" Type="http://schemas.openxmlformats.org/officeDocument/2006/relationships/font" Target="fonts/font20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7.fntdata"/><Relationship Id="rId52" Type="http://schemas.openxmlformats.org/officeDocument/2006/relationships/font" Target="fonts/font15.fntdata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6573E5A-80F2-4947-93D1-AFAAC386EB98}" type="doc">
      <dgm:prSet loTypeId="urn:microsoft.com/office/officeart/2005/8/layout/radial4" loCatId="relationship" qsTypeId="urn:microsoft.com/office/officeart/2005/8/quickstyle/simple2" qsCatId="simple" csTypeId="urn:microsoft.com/office/officeart/2005/8/colors/colorful1" csCatId="colorful" phldr="1"/>
      <dgm:spPr/>
      <dgm:t>
        <a:bodyPr/>
        <a:lstStyle/>
        <a:p>
          <a:endParaRPr lang="es-MX"/>
        </a:p>
      </dgm:t>
    </dgm:pt>
    <dgm:pt modelId="{7B4FFC03-27F0-49CA-9403-3A126C5D8C0A}">
      <dgm:prSet phldrT="[Texto]" custT="1"/>
      <dgm:spPr/>
      <dgm:t>
        <a:bodyPr/>
        <a:lstStyle/>
        <a:p>
          <a:r>
            <a:rPr lang="es-MX" sz="5600" dirty="0"/>
            <a:t>&gt; 98%</a:t>
          </a:r>
        </a:p>
      </dgm:t>
    </dgm:pt>
    <dgm:pt modelId="{6A8A98C9-12AE-47B2-8120-7FF0FC57F450}" type="parTrans" cxnId="{BBE10374-F649-4B81-A321-417A50816E3F}">
      <dgm:prSet/>
      <dgm:spPr/>
      <dgm:t>
        <a:bodyPr/>
        <a:lstStyle/>
        <a:p>
          <a:endParaRPr lang="es-MX"/>
        </a:p>
      </dgm:t>
    </dgm:pt>
    <dgm:pt modelId="{2698B2B6-2238-4F90-9510-3C422C5D8131}" type="sibTrans" cxnId="{BBE10374-F649-4B81-A321-417A50816E3F}">
      <dgm:prSet/>
      <dgm:spPr/>
      <dgm:t>
        <a:bodyPr/>
        <a:lstStyle/>
        <a:p>
          <a:endParaRPr lang="es-MX"/>
        </a:p>
      </dgm:t>
    </dgm:pt>
    <dgm:pt modelId="{B5DECDCF-53D6-4B1D-9227-AAB1635D3EA4}">
      <dgm:prSet phldrT="[Texto]"/>
      <dgm:spPr/>
      <dgm:t>
        <a:bodyPr/>
        <a:lstStyle/>
        <a:p>
          <a:r>
            <a:rPr lang="es-MX" dirty="0"/>
            <a:t>Exactitud</a:t>
          </a:r>
        </a:p>
      </dgm:t>
    </dgm:pt>
    <dgm:pt modelId="{E34F2EC7-9868-4C9A-A0DF-BE62D60E86C5}" type="parTrans" cxnId="{3962C38B-841E-4CE5-9F81-ACA38AEB9A4E}">
      <dgm:prSet/>
      <dgm:spPr/>
      <dgm:t>
        <a:bodyPr/>
        <a:lstStyle/>
        <a:p>
          <a:endParaRPr lang="es-MX"/>
        </a:p>
      </dgm:t>
    </dgm:pt>
    <dgm:pt modelId="{5C8B8F44-7042-45B1-9671-F090B159E1DA}" type="sibTrans" cxnId="{3962C38B-841E-4CE5-9F81-ACA38AEB9A4E}">
      <dgm:prSet/>
      <dgm:spPr/>
      <dgm:t>
        <a:bodyPr/>
        <a:lstStyle/>
        <a:p>
          <a:endParaRPr lang="es-MX"/>
        </a:p>
      </dgm:t>
    </dgm:pt>
    <dgm:pt modelId="{E643E759-23DC-4D94-93E8-A7FFA3D913EC}">
      <dgm:prSet phldrT="[Texto]"/>
      <dgm:spPr/>
      <dgm:t>
        <a:bodyPr/>
        <a:lstStyle/>
        <a:p>
          <a:r>
            <a:rPr lang="es-MX" i="1" dirty="0" err="1"/>
            <a:t>Recall</a:t>
          </a:r>
          <a:endParaRPr lang="es-MX" i="1" dirty="0"/>
        </a:p>
      </dgm:t>
    </dgm:pt>
    <dgm:pt modelId="{2C1418FD-971D-4B17-9A30-32D76730DFE2}" type="parTrans" cxnId="{A7CE144B-7165-4F9F-92F6-9E9931D7434E}">
      <dgm:prSet/>
      <dgm:spPr/>
      <dgm:t>
        <a:bodyPr/>
        <a:lstStyle/>
        <a:p>
          <a:endParaRPr lang="es-MX"/>
        </a:p>
      </dgm:t>
    </dgm:pt>
    <dgm:pt modelId="{BFF1090E-935A-4FD4-B284-F427C233445B}" type="sibTrans" cxnId="{A7CE144B-7165-4F9F-92F6-9E9931D7434E}">
      <dgm:prSet/>
      <dgm:spPr/>
      <dgm:t>
        <a:bodyPr/>
        <a:lstStyle/>
        <a:p>
          <a:endParaRPr lang="es-MX"/>
        </a:p>
      </dgm:t>
    </dgm:pt>
    <dgm:pt modelId="{9E50EE2D-9838-42ED-A200-8F40B8BEF774}">
      <dgm:prSet phldrT="[Texto]"/>
      <dgm:spPr/>
      <dgm:t>
        <a:bodyPr/>
        <a:lstStyle/>
        <a:p>
          <a:r>
            <a:rPr lang="es-MX" dirty="0"/>
            <a:t>Puntaje </a:t>
          </a:r>
          <a:r>
            <a:rPr lang="es-MX" i="1" dirty="0"/>
            <a:t>F</a:t>
          </a:r>
          <a:r>
            <a:rPr lang="es-MX" i="1" baseline="-25000" dirty="0"/>
            <a:t>1</a:t>
          </a:r>
        </a:p>
      </dgm:t>
    </dgm:pt>
    <dgm:pt modelId="{E7F10287-17B4-4262-A1D5-246CE8A1D30E}" type="parTrans" cxnId="{4BAA6BAA-4478-4676-84B5-FC961E72D399}">
      <dgm:prSet/>
      <dgm:spPr/>
      <dgm:t>
        <a:bodyPr/>
        <a:lstStyle/>
        <a:p>
          <a:endParaRPr lang="es-MX"/>
        </a:p>
      </dgm:t>
    </dgm:pt>
    <dgm:pt modelId="{190D4AC1-4167-4D4A-B4BB-3FB14C0C0EB1}" type="sibTrans" cxnId="{4BAA6BAA-4478-4676-84B5-FC961E72D399}">
      <dgm:prSet/>
      <dgm:spPr/>
      <dgm:t>
        <a:bodyPr/>
        <a:lstStyle/>
        <a:p>
          <a:endParaRPr lang="es-MX"/>
        </a:p>
      </dgm:t>
    </dgm:pt>
    <dgm:pt modelId="{002B5CC3-A109-47E9-8829-DD66EB0CF90F}">
      <dgm:prSet phldrT="[Texto]"/>
      <dgm:spPr/>
      <dgm:t>
        <a:bodyPr/>
        <a:lstStyle/>
        <a:p>
          <a:r>
            <a:rPr lang="es-MX"/>
            <a:t>Precisión</a:t>
          </a:r>
          <a:endParaRPr lang="es-MX" dirty="0"/>
        </a:p>
      </dgm:t>
    </dgm:pt>
    <dgm:pt modelId="{C021391B-CF18-43C3-B329-6C0D184F374A}" type="parTrans" cxnId="{B711F751-3C52-4854-98A4-C99249B62D53}">
      <dgm:prSet/>
      <dgm:spPr/>
      <dgm:t>
        <a:bodyPr/>
        <a:lstStyle/>
        <a:p>
          <a:endParaRPr lang="es-MX"/>
        </a:p>
      </dgm:t>
    </dgm:pt>
    <dgm:pt modelId="{853849B9-DCDE-4AE7-B216-BBEBDDBF2A57}" type="sibTrans" cxnId="{B711F751-3C52-4854-98A4-C99249B62D53}">
      <dgm:prSet/>
      <dgm:spPr/>
      <dgm:t>
        <a:bodyPr/>
        <a:lstStyle/>
        <a:p>
          <a:endParaRPr lang="es-MX"/>
        </a:p>
      </dgm:t>
    </dgm:pt>
    <dgm:pt modelId="{7F55FDA6-06E3-4466-91B2-57B29CA1095D}" type="pres">
      <dgm:prSet presAssocID="{16573E5A-80F2-4947-93D1-AFAAC386EB98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17B00BD7-F4A2-4B92-AC65-BA0CA2B41EB3}" type="pres">
      <dgm:prSet presAssocID="{7B4FFC03-27F0-49CA-9403-3A126C5D8C0A}" presName="centerShape" presStyleLbl="node0" presStyleIdx="0" presStyleCnt="1" custScaleX="107527" custScaleY="107576"/>
      <dgm:spPr/>
    </dgm:pt>
    <dgm:pt modelId="{B5FB5C98-B934-4563-A64C-2829673D6B58}" type="pres">
      <dgm:prSet presAssocID="{E34F2EC7-9868-4C9A-A0DF-BE62D60E86C5}" presName="parTrans" presStyleLbl="bgSibTrans2D1" presStyleIdx="0" presStyleCnt="4"/>
      <dgm:spPr/>
    </dgm:pt>
    <dgm:pt modelId="{E8286B14-B4B5-426C-B970-8451B765BE2A}" type="pres">
      <dgm:prSet presAssocID="{B5DECDCF-53D6-4B1D-9227-AAB1635D3EA4}" presName="node" presStyleLbl="node1" presStyleIdx="0" presStyleCnt="4" custScaleX="70565" custScaleY="79437" custRadScaleRad="89763" custRadScaleInc="6131">
        <dgm:presLayoutVars>
          <dgm:bulletEnabled val="1"/>
        </dgm:presLayoutVars>
      </dgm:prSet>
      <dgm:spPr/>
    </dgm:pt>
    <dgm:pt modelId="{555353CF-3D8F-4D2F-A763-EFD3AFB39FF4}" type="pres">
      <dgm:prSet presAssocID="{C021391B-CF18-43C3-B329-6C0D184F374A}" presName="parTrans" presStyleLbl="bgSibTrans2D1" presStyleIdx="1" presStyleCnt="4"/>
      <dgm:spPr/>
    </dgm:pt>
    <dgm:pt modelId="{B7E682F2-11DC-4103-AD80-88D8C9F9AFCE}" type="pres">
      <dgm:prSet presAssocID="{002B5CC3-A109-47E9-8829-DD66EB0CF90F}" presName="node" presStyleLbl="node1" presStyleIdx="1" presStyleCnt="4" custScaleX="70565" custScaleY="79437" custRadScaleRad="91258" custRadScaleInc="-1232">
        <dgm:presLayoutVars>
          <dgm:bulletEnabled val="1"/>
        </dgm:presLayoutVars>
      </dgm:prSet>
      <dgm:spPr/>
    </dgm:pt>
    <dgm:pt modelId="{D7DCBCF8-D874-435E-A6DE-0EDC7B8E5CA6}" type="pres">
      <dgm:prSet presAssocID="{2C1418FD-971D-4B17-9A30-32D76730DFE2}" presName="parTrans" presStyleLbl="bgSibTrans2D1" presStyleIdx="2" presStyleCnt="4"/>
      <dgm:spPr/>
    </dgm:pt>
    <dgm:pt modelId="{4C7AA4A6-C55D-41E8-B65B-E26AD81909D7}" type="pres">
      <dgm:prSet presAssocID="{E643E759-23DC-4D94-93E8-A7FFA3D913EC}" presName="node" presStyleLbl="node1" presStyleIdx="2" presStyleCnt="4" custScaleX="70565" custScaleY="79437" custRadScaleRad="88666" custRadScaleInc="-5437">
        <dgm:presLayoutVars>
          <dgm:bulletEnabled val="1"/>
        </dgm:presLayoutVars>
      </dgm:prSet>
      <dgm:spPr/>
    </dgm:pt>
    <dgm:pt modelId="{26754534-9E24-4C05-857B-55F2F8B4862F}" type="pres">
      <dgm:prSet presAssocID="{E7F10287-17B4-4262-A1D5-246CE8A1D30E}" presName="parTrans" presStyleLbl="bgSibTrans2D1" presStyleIdx="3" presStyleCnt="4"/>
      <dgm:spPr/>
    </dgm:pt>
    <dgm:pt modelId="{562A7FDD-2D2C-4203-AAE2-DC6357865F93}" type="pres">
      <dgm:prSet presAssocID="{9E50EE2D-9838-42ED-A200-8F40B8BEF774}" presName="node" presStyleLbl="node1" presStyleIdx="3" presStyleCnt="4" custScaleX="70565" custScaleY="79437" custRadScaleRad="90165" custRadScaleInc="-3511">
        <dgm:presLayoutVars>
          <dgm:bulletEnabled val="1"/>
        </dgm:presLayoutVars>
      </dgm:prSet>
      <dgm:spPr/>
    </dgm:pt>
  </dgm:ptLst>
  <dgm:cxnLst>
    <dgm:cxn modelId="{1074D721-EF3D-436F-BFA6-CBA6525B106E}" type="presOf" srcId="{9E50EE2D-9838-42ED-A200-8F40B8BEF774}" destId="{562A7FDD-2D2C-4203-AAE2-DC6357865F93}" srcOrd="0" destOrd="0" presId="urn:microsoft.com/office/officeart/2005/8/layout/radial4"/>
    <dgm:cxn modelId="{A7CE144B-7165-4F9F-92F6-9E9931D7434E}" srcId="{7B4FFC03-27F0-49CA-9403-3A126C5D8C0A}" destId="{E643E759-23DC-4D94-93E8-A7FFA3D913EC}" srcOrd="2" destOrd="0" parTransId="{2C1418FD-971D-4B17-9A30-32D76730DFE2}" sibTransId="{BFF1090E-935A-4FD4-B284-F427C233445B}"/>
    <dgm:cxn modelId="{8BE0FF4C-ED00-4F65-BF66-F81BFC5FC3FA}" type="presOf" srcId="{16573E5A-80F2-4947-93D1-AFAAC386EB98}" destId="{7F55FDA6-06E3-4466-91B2-57B29CA1095D}" srcOrd="0" destOrd="0" presId="urn:microsoft.com/office/officeart/2005/8/layout/radial4"/>
    <dgm:cxn modelId="{9E0CE76E-4C91-4CB3-BB9C-21D511607982}" type="presOf" srcId="{2C1418FD-971D-4B17-9A30-32D76730DFE2}" destId="{D7DCBCF8-D874-435E-A6DE-0EDC7B8E5CA6}" srcOrd="0" destOrd="0" presId="urn:microsoft.com/office/officeart/2005/8/layout/radial4"/>
    <dgm:cxn modelId="{B711F751-3C52-4854-98A4-C99249B62D53}" srcId="{7B4FFC03-27F0-49CA-9403-3A126C5D8C0A}" destId="{002B5CC3-A109-47E9-8829-DD66EB0CF90F}" srcOrd="1" destOrd="0" parTransId="{C021391B-CF18-43C3-B329-6C0D184F374A}" sibTransId="{853849B9-DCDE-4AE7-B216-BBEBDDBF2A57}"/>
    <dgm:cxn modelId="{BBE10374-F649-4B81-A321-417A50816E3F}" srcId="{16573E5A-80F2-4947-93D1-AFAAC386EB98}" destId="{7B4FFC03-27F0-49CA-9403-3A126C5D8C0A}" srcOrd="0" destOrd="0" parTransId="{6A8A98C9-12AE-47B2-8120-7FF0FC57F450}" sibTransId="{2698B2B6-2238-4F90-9510-3C422C5D8131}"/>
    <dgm:cxn modelId="{B8440B8A-940F-47E3-8646-9C56F918E4C1}" type="presOf" srcId="{7B4FFC03-27F0-49CA-9403-3A126C5D8C0A}" destId="{17B00BD7-F4A2-4B92-AC65-BA0CA2B41EB3}" srcOrd="0" destOrd="0" presId="urn:microsoft.com/office/officeart/2005/8/layout/radial4"/>
    <dgm:cxn modelId="{3962C38B-841E-4CE5-9F81-ACA38AEB9A4E}" srcId="{7B4FFC03-27F0-49CA-9403-3A126C5D8C0A}" destId="{B5DECDCF-53D6-4B1D-9227-AAB1635D3EA4}" srcOrd="0" destOrd="0" parTransId="{E34F2EC7-9868-4C9A-A0DF-BE62D60E86C5}" sibTransId="{5C8B8F44-7042-45B1-9671-F090B159E1DA}"/>
    <dgm:cxn modelId="{20B90A8D-F657-4AC8-B035-BB065F9CD412}" type="presOf" srcId="{B5DECDCF-53D6-4B1D-9227-AAB1635D3EA4}" destId="{E8286B14-B4B5-426C-B970-8451B765BE2A}" srcOrd="0" destOrd="0" presId="urn:microsoft.com/office/officeart/2005/8/layout/radial4"/>
    <dgm:cxn modelId="{4BAA6BAA-4478-4676-84B5-FC961E72D399}" srcId="{7B4FFC03-27F0-49CA-9403-3A126C5D8C0A}" destId="{9E50EE2D-9838-42ED-A200-8F40B8BEF774}" srcOrd="3" destOrd="0" parTransId="{E7F10287-17B4-4262-A1D5-246CE8A1D30E}" sibTransId="{190D4AC1-4167-4D4A-B4BB-3FB14C0C0EB1}"/>
    <dgm:cxn modelId="{A6700ABA-6F53-4AF8-84D0-D9243E7D8225}" type="presOf" srcId="{E7F10287-17B4-4262-A1D5-246CE8A1D30E}" destId="{26754534-9E24-4C05-857B-55F2F8B4862F}" srcOrd="0" destOrd="0" presId="urn:microsoft.com/office/officeart/2005/8/layout/radial4"/>
    <dgm:cxn modelId="{6C3800C1-3488-4C27-948C-3C04F0D47783}" type="presOf" srcId="{002B5CC3-A109-47E9-8829-DD66EB0CF90F}" destId="{B7E682F2-11DC-4103-AD80-88D8C9F9AFCE}" srcOrd="0" destOrd="0" presId="urn:microsoft.com/office/officeart/2005/8/layout/radial4"/>
    <dgm:cxn modelId="{B8B2A1C4-B93B-4508-A2ED-2355A22293D8}" type="presOf" srcId="{C021391B-CF18-43C3-B329-6C0D184F374A}" destId="{555353CF-3D8F-4D2F-A763-EFD3AFB39FF4}" srcOrd="0" destOrd="0" presId="urn:microsoft.com/office/officeart/2005/8/layout/radial4"/>
    <dgm:cxn modelId="{E034FBDA-FF34-4CE5-9A4F-811812AAB086}" type="presOf" srcId="{E643E759-23DC-4D94-93E8-A7FFA3D913EC}" destId="{4C7AA4A6-C55D-41E8-B65B-E26AD81909D7}" srcOrd="0" destOrd="0" presId="urn:microsoft.com/office/officeart/2005/8/layout/radial4"/>
    <dgm:cxn modelId="{D6FBECEB-CC7C-4DD3-AD6F-8560AE4BB782}" type="presOf" srcId="{E34F2EC7-9868-4C9A-A0DF-BE62D60E86C5}" destId="{B5FB5C98-B934-4563-A64C-2829673D6B58}" srcOrd="0" destOrd="0" presId="urn:microsoft.com/office/officeart/2005/8/layout/radial4"/>
    <dgm:cxn modelId="{82A23D1C-A07F-47EA-9355-A13F11A07831}" type="presParOf" srcId="{7F55FDA6-06E3-4466-91B2-57B29CA1095D}" destId="{17B00BD7-F4A2-4B92-AC65-BA0CA2B41EB3}" srcOrd="0" destOrd="0" presId="urn:microsoft.com/office/officeart/2005/8/layout/radial4"/>
    <dgm:cxn modelId="{567C616A-D20E-4731-BE4B-91B32C3B11BC}" type="presParOf" srcId="{7F55FDA6-06E3-4466-91B2-57B29CA1095D}" destId="{B5FB5C98-B934-4563-A64C-2829673D6B58}" srcOrd="1" destOrd="0" presId="urn:microsoft.com/office/officeart/2005/8/layout/radial4"/>
    <dgm:cxn modelId="{02FC3A67-7363-42C6-A342-4814BE9BB7E8}" type="presParOf" srcId="{7F55FDA6-06E3-4466-91B2-57B29CA1095D}" destId="{E8286B14-B4B5-426C-B970-8451B765BE2A}" srcOrd="2" destOrd="0" presId="urn:microsoft.com/office/officeart/2005/8/layout/radial4"/>
    <dgm:cxn modelId="{06B4DF67-81C3-4319-96DE-6895554EF3E7}" type="presParOf" srcId="{7F55FDA6-06E3-4466-91B2-57B29CA1095D}" destId="{555353CF-3D8F-4D2F-A763-EFD3AFB39FF4}" srcOrd="3" destOrd="0" presId="urn:microsoft.com/office/officeart/2005/8/layout/radial4"/>
    <dgm:cxn modelId="{B20DE6DB-FBAF-47D9-A4D5-D6FDF04FF614}" type="presParOf" srcId="{7F55FDA6-06E3-4466-91B2-57B29CA1095D}" destId="{B7E682F2-11DC-4103-AD80-88D8C9F9AFCE}" srcOrd="4" destOrd="0" presId="urn:microsoft.com/office/officeart/2005/8/layout/radial4"/>
    <dgm:cxn modelId="{53D737A9-1EE7-4CF8-9367-EFC1648303B9}" type="presParOf" srcId="{7F55FDA6-06E3-4466-91B2-57B29CA1095D}" destId="{D7DCBCF8-D874-435E-A6DE-0EDC7B8E5CA6}" srcOrd="5" destOrd="0" presId="urn:microsoft.com/office/officeart/2005/8/layout/radial4"/>
    <dgm:cxn modelId="{589B2221-BBAF-456E-83B6-9EA76BFE2C52}" type="presParOf" srcId="{7F55FDA6-06E3-4466-91B2-57B29CA1095D}" destId="{4C7AA4A6-C55D-41E8-B65B-E26AD81909D7}" srcOrd="6" destOrd="0" presId="urn:microsoft.com/office/officeart/2005/8/layout/radial4"/>
    <dgm:cxn modelId="{4FA40A83-8098-4FB8-8ED4-F90E8CF50E43}" type="presParOf" srcId="{7F55FDA6-06E3-4466-91B2-57B29CA1095D}" destId="{26754534-9E24-4C05-857B-55F2F8B4862F}" srcOrd="7" destOrd="0" presId="urn:microsoft.com/office/officeart/2005/8/layout/radial4"/>
    <dgm:cxn modelId="{09AF15C1-E3EE-45A3-865B-3BA5DF7AB718}" type="presParOf" srcId="{7F55FDA6-06E3-4466-91B2-57B29CA1095D}" destId="{562A7FDD-2D2C-4203-AAE2-DC6357865F93}" srcOrd="8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B00BD7-F4A2-4B92-AC65-BA0CA2B41EB3}">
      <dsp:nvSpPr>
        <dsp:cNvPr id="0" name=""/>
        <dsp:cNvSpPr/>
      </dsp:nvSpPr>
      <dsp:spPr>
        <a:xfrm>
          <a:off x="3352798" y="2982943"/>
          <a:ext cx="2743203" cy="274445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2489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5600" kern="1200" dirty="0"/>
            <a:t>&gt; 98%</a:t>
          </a:r>
        </a:p>
      </dsp:txBody>
      <dsp:txXfrm>
        <a:off x="3754531" y="3384859"/>
        <a:ext cx="1939737" cy="1940621"/>
      </dsp:txXfrm>
    </dsp:sp>
    <dsp:sp modelId="{B5FB5C98-B934-4563-A64C-2829673D6B58}">
      <dsp:nvSpPr>
        <dsp:cNvPr id="0" name=""/>
        <dsp:cNvSpPr/>
      </dsp:nvSpPr>
      <dsp:spPr>
        <a:xfrm rot="11865537">
          <a:off x="1574538" y="3268986"/>
          <a:ext cx="1787088" cy="727085"/>
        </a:xfrm>
        <a:prstGeom prst="lef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8286B14-B4B5-426C-B970-8451B765BE2A}">
      <dsp:nvSpPr>
        <dsp:cNvPr id="0" name=""/>
        <dsp:cNvSpPr/>
      </dsp:nvSpPr>
      <dsp:spPr>
        <a:xfrm>
          <a:off x="762005" y="2589886"/>
          <a:ext cx="1710225" cy="154019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9055" tIns="59055" rIns="59055" bIns="5905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100" kern="1200" dirty="0"/>
            <a:t>Exactitud</a:t>
          </a:r>
        </a:p>
      </dsp:txBody>
      <dsp:txXfrm>
        <a:off x="807116" y="2634997"/>
        <a:ext cx="1620003" cy="1449977"/>
      </dsp:txXfrm>
    </dsp:sp>
    <dsp:sp modelId="{555353CF-3D8F-4D2F-A763-EFD3AFB39FF4}">
      <dsp:nvSpPr>
        <dsp:cNvPr id="0" name=""/>
        <dsp:cNvSpPr/>
      </dsp:nvSpPr>
      <dsp:spPr>
        <a:xfrm rot="14666736">
          <a:off x="2770932" y="1828125"/>
          <a:ext cx="1838015" cy="727085"/>
        </a:xfrm>
        <a:prstGeom prst="lef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7E682F2-11DC-4103-AD80-88D8C9F9AFCE}">
      <dsp:nvSpPr>
        <dsp:cNvPr id="0" name=""/>
        <dsp:cNvSpPr/>
      </dsp:nvSpPr>
      <dsp:spPr>
        <a:xfrm>
          <a:off x="2438397" y="592462"/>
          <a:ext cx="1710225" cy="1540199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9055" tIns="59055" rIns="59055" bIns="5905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100" kern="1200"/>
            <a:t>Precisión</a:t>
          </a:r>
          <a:endParaRPr lang="es-MX" sz="3100" kern="1200" dirty="0"/>
        </a:p>
      </dsp:txBody>
      <dsp:txXfrm>
        <a:off x="2483508" y="637573"/>
        <a:ext cx="1620003" cy="1449977"/>
      </dsp:txXfrm>
    </dsp:sp>
    <dsp:sp modelId="{D7DCBCF8-D874-435E-A6DE-0EDC7B8E5CA6}">
      <dsp:nvSpPr>
        <dsp:cNvPr id="0" name=""/>
        <dsp:cNvSpPr/>
      </dsp:nvSpPr>
      <dsp:spPr>
        <a:xfrm rot="17553201">
          <a:off x="4750636" y="1822821"/>
          <a:ext cx="1748958" cy="727085"/>
        </a:xfrm>
        <a:prstGeom prst="lef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C7AA4A6-C55D-41E8-B65B-E26AD81909D7}">
      <dsp:nvSpPr>
        <dsp:cNvPr id="0" name=""/>
        <dsp:cNvSpPr/>
      </dsp:nvSpPr>
      <dsp:spPr>
        <a:xfrm>
          <a:off x="5105403" y="608663"/>
          <a:ext cx="1710225" cy="1540199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9055" tIns="59055" rIns="59055" bIns="5905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100" i="1" kern="1200" dirty="0" err="1"/>
            <a:t>Recall</a:t>
          </a:r>
          <a:endParaRPr lang="es-MX" sz="3100" i="1" kern="1200" dirty="0"/>
        </a:p>
      </dsp:txBody>
      <dsp:txXfrm>
        <a:off x="5150514" y="653774"/>
        <a:ext cx="1620003" cy="1449977"/>
      </dsp:txXfrm>
    </dsp:sp>
    <dsp:sp modelId="{26754534-9E24-4C05-857B-55F2F8B4862F}">
      <dsp:nvSpPr>
        <dsp:cNvPr id="0" name=""/>
        <dsp:cNvSpPr/>
      </dsp:nvSpPr>
      <dsp:spPr>
        <a:xfrm rot="20605203">
          <a:off x="6102040" y="3313366"/>
          <a:ext cx="1800903" cy="727085"/>
        </a:xfrm>
        <a:prstGeom prst="lef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62A7FDD-2D2C-4203-AAE2-DC6357865F93}">
      <dsp:nvSpPr>
        <dsp:cNvPr id="0" name=""/>
        <dsp:cNvSpPr/>
      </dsp:nvSpPr>
      <dsp:spPr>
        <a:xfrm>
          <a:off x="7010393" y="2649862"/>
          <a:ext cx="1710225" cy="1540199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9055" tIns="59055" rIns="59055" bIns="5905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100" kern="1200" dirty="0"/>
            <a:t>Puntaje </a:t>
          </a:r>
          <a:r>
            <a:rPr lang="es-MX" sz="3100" i="1" kern="1200" dirty="0"/>
            <a:t>F</a:t>
          </a:r>
          <a:r>
            <a:rPr lang="es-MX" sz="3100" i="1" kern="1200" baseline="-25000" dirty="0"/>
            <a:t>1</a:t>
          </a:r>
        </a:p>
      </dsp:txBody>
      <dsp:txXfrm>
        <a:off x="7055504" y="2694973"/>
        <a:ext cx="1620003" cy="144997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svg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jp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e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Relationship Id="rId4" Type="http://schemas.openxmlformats.org/officeDocument/2006/relationships/hyperlink" Target="mailto:stinoco@enesmorelia.unam.mx" TargetMode="Externa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2677362" y="-1506016"/>
            <a:ext cx="20965362" cy="11793016"/>
          </a:xfrm>
          <a:custGeom>
            <a:avLst/>
            <a:gdLst/>
            <a:ahLst/>
            <a:cxnLst/>
            <a:rect l="l" t="t" r="r" b="b"/>
            <a:pathLst>
              <a:path w="20965362" h="11793016">
                <a:moveTo>
                  <a:pt x="20965362" y="0"/>
                </a:moveTo>
                <a:lnTo>
                  <a:pt x="0" y="0"/>
                </a:lnTo>
                <a:lnTo>
                  <a:pt x="0" y="11793016"/>
                </a:lnTo>
                <a:lnTo>
                  <a:pt x="20965362" y="11793016"/>
                </a:lnTo>
                <a:lnTo>
                  <a:pt x="20965362" y="0"/>
                </a:lnTo>
                <a:close/>
              </a:path>
            </a:pathLst>
          </a:custGeom>
          <a:blipFill>
            <a:blip r:embed="rId2">
              <a:alphaModFix amt="52000"/>
            </a:blip>
            <a:stretch>
              <a:fillRect l="-481" t="-14714" r="-11924" b="-2936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129762" y="8492069"/>
            <a:ext cx="4064311" cy="1301621"/>
            <a:chOff x="0" y="0"/>
            <a:chExt cx="1070436" cy="34281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70436" cy="342814"/>
            </a:xfrm>
            <a:custGeom>
              <a:avLst/>
              <a:gdLst/>
              <a:ahLst/>
              <a:cxnLst/>
              <a:rect l="l" t="t" r="r" b="b"/>
              <a:pathLst>
                <a:path w="1070436" h="342814">
                  <a:moveTo>
                    <a:pt x="32383" y="0"/>
                  </a:moveTo>
                  <a:lnTo>
                    <a:pt x="1038053" y="0"/>
                  </a:lnTo>
                  <a:cubicBezTo>
                    <a:pt x="1055938" y="0"/>
                    <a:pt x="1070436" y="14498"/>
                    <a:pt x="1070436" y="32383"/>
                  </a:cubicBezTo>
                  <a:lnTo>
                    <a:pt x="1070436" y="310431"/>
                  </a:lnTo>
                  <a:cubicBezTo>
                    <a:pt x="1070436" y="319020"/>
                    <a:pt x="1067024" y="327256"/>
                    <a:pt x="1060951" y="333329"/>
                  </a:cubicBezTo>
                  <a:cubicBezTo>
                    <a:pt x="1054878" y="339402"/>
                    <a:pt x="1046642" y="342814"/>
                    <a:pt x="1038053" y="342814"/>
                  </a:cubicBezTo>
                  <a:lnTo>
                    <a:pt x="32383" y="342814"/>
                  </a:lnTo>
                  <a:cubicBezTo>
                    <a:pt x="14498" y="342814"/>
                    <a:pt x="0" y="328316"/>
                    <a:pt x="0" y="310431"/>
                  </a:cubicBezTo>
                  <a:lnTo>
                    <a:pt x="0" y="32383"/>
                  </a:lnTo>
                  <a:cubicBezTo>
                    <a:pt x="0" y="14498"/>
                    <a:pt x="14498" y="0"/>
                    <a:pt x="32383" y="0"/>
                  </a:cubicBezTo>
                  <a:close/>
                </a:path>
              </a:pathLst>
            </a:custGeom>
            <a:solidFill>
              <a:srgbClr val="F4F6FC">
                <a:alpha val="74902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070436" cy="3809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230111" y="917843"/>
            <a:ext cx="11029189" cy="8451313"/>
            <a:chOff x="0" y="0"/>
            <a:chExt cx="2650027" cy="203063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650027" cy="2030630"/>
            </a:xfrm>
            <a:custGeom>
              <a:avLst/>
              <a:gdLst/>
              <a:ahLst/>
              <a:cxnLst/>
              <a:rect l="l" t="t" r="r" b="b"/>
              <a:pathLst>
                <a:path w="2650027" h="2030630">
                  <a:moveTo>
                    <a:pt x="40011" y="0"/>
                  </a:moveTo>
                  <a:lnTo>
                    <a:pt x="2610015" y="0"/>
                  </a:lnTo>
                  <a:cubicBezTo>
                    <a:pt x="2632113" y="0"/>
                    <a:pt x="2650027" y="17914"/>
                    <a:pt x="2650027" y="40011"/>
                  </a:cubicBezTo>
                  <a:lnTo>
                    <a:pt x="2650027" y="1990619"/>
                  </a:lnTo>
                  <a:cubicBezTo>
                    <a:pt x="2650027" y="2012717"/>
                    <a:pt x="2632113" y="2030630"/>
                    <a:pt x="2610015" y="2030630"/>
                  </a:cubicBezTo>
                  <a:lnTo>
                    <a:pt x="40011" y="2030630"/>
                  </a:lnTo>
                  <a:cubicBezTo>
                    <a:pt x="17914" y="2030630"/>
                    <a:pt x="0" y="2012717"/>
                    <a:pt x="0" y="1990619"/>
                  </a:cubicBezTo>
                  <a:lnTo>
                    <a:pt x="0" y="40011"/>
                  </a:lnTo>
                  <a:cubicBezTo>
                    <a:pt x="0" y="17914"/>
                    <a:pt x="17914" y="0"/>
                    <a:pt x="40011" y="0"/>
                  </a:cubicBezTo>
                  <a:close/>
                </a:path>
              </a:pathLst>
            </a:custGeom>
            <a:solidFill>
              <a:srgbClr val="89C0FF">
                <a:alpha val="6000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650027" cy="2068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3593689" y="5143500"/>
            <a:ext cx="1704813" cy="1551629"/>
          </a:xfrm>
          <a:custGeom>
            <a:avLst/>
            <a:gdLst/>
            <a:ahLst/>
            <a:cxnLst/>
            <a:rect l="l" t="t" r="r" b="b"/>
            <a:pathLst>
              <a:path w="1704813" h="1551629">
                <a:moveTo>
                  <a:pt x="0" y="0"/>
                </a:moveTo>
                <a:lnTo>
                  <a:pt x="1704813" y="0"/>
                </a:lnTo>
                <a:lnTo>
                  <a:pt x="1704813" y="1551629"/>
                </a:lnTo>
                <a:lnTo>
                  <a:pt x="0" y="15516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432" t="-6730" r="-287738" b="-9567"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350281" y="8661725"/>
            <a:ext cx="3104225" cy="962310"/>
          </a:xfrm>
          <a:custGeom>
            <a:avLst/>
            <a:gdLst/>
            <a:ahLst/>
            <a:cxnLst/>
            <a:rect l="l" t="t" r="r" b="b"/>
            <a:pathLst>
              <a:path w="3104225" h="962310">
                <a:moveTo>
                  <a:pt x="0" y="0"/>
                </a:moveTo>
                <a:lnTo>
                  <a:pt x="3104225" y="0"/>
                </a:lnTo>
                <a:lnTo>
                  <a:pt x="3104225" y="962310"/>
                </a:lnTo>
                <a:lnTo>
                  <a:pt x="0" y="9623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6577901" y="1691548"/>
            <a:ext cx="10333609" cy="4130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37"/>
              </a:lnSpc>
            </a:pPr>
            <a:r>
              <a:rPr lang="en-US" sz="4990" b="1" spc="359">
                <a:solidFill>
                  <a:srgbClr val="242258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Clasificación automática</a:t>
            </a:r>
            <a:r>
              <a:rPr lang="en-US" sz="4990" b="1" spc="359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de imágenes para el monitoreo del </a:t>
            </a:r>
            <a:r>
              <a:rPr lang="en-US" sz="4990" b="1" spc="359">
                <a:solidFill>
                  <a:srgbClr val="FFBD59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Volcán Popocatépetl</a:t>
            </a:r>
            <a:r>
              <a:rPr lang="en-US" sz="4990" b="1" spc="359">
                <a:solidFill>
                  <a:srgbClr val="FFDE59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</a:t>
            </a:r>
            <a:r>
              <a:rPr lang="en-US" sz="4990" b="1" spc="359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utilizando </a:t>
            </a:r>
            <a:r>
              <a:rPr lang="en-US" sz="4990" b="1" spc="359">
                <a:solidFill>
                  <a:srgbClr val="0F439B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aprendizaje profundo​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084690" y="6927865"/>
            <a:ext cx="3049909" cy="3407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820"/>
              </a:lnSpc>
            </a:pPr>
            <a:r>
              <a:rPr lang="en-US" sz="2014" b="1" dirty="0" err="1">
                <a:solidFill>
                  <a:srgbClr val="0F439B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Equipo</a:t>
            </a:r>
            <a:r>
              <a:rPr lang="en-US" sz="2014" b="1" dirty="0">
                <a:solidFill>
                  <a:srgbClr val="0F439B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de </a:t>
            </a:r>
            <a:r>
              <a:rPr lang="en-US" sz="2014" b="1" dirty="0" err="1">
                <a:solidFill>
                  <a:srgbClr val="0F439B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investigación</a:t>
            </a:r>
            <a:r>
              <a:rPr lang="en-US" sz="2014" b="1" dirty="0">
                <a:solidFill>
                  <a:srgbClr val="0F439B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: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251784" y="7302704"/>
            <a:ext cx="4218714" cy="11935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20"/>
              </a:lnSpc>
            </a:pPr>
            <a:r>
              <a:rPr lang="en-US" sz="2014" dirty="0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Miriam Guadalupe Valdez Maldonado</a:t>
            </a:r>
          </a:p>
          <a:p>
            <a:pPr algn="l">
              <a:lnSpc>
                <a:spcPts val="3384"/>
              </a:lnSpc>
            </a:pPr>
            <a:r>
              <a:rPr lang="en-US" sz="2014" dirty="0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Dr. Luis Antonio Domínguez Ramírez​</a:t>
            </a:r>
          </a:p>
          <a:p>
            <a:pPr algn="l">
              <a:lnSpc>
                <a:spcPts val="3384"/>
              </a:lnSpc>
            </a:pPr>
            <a:r>
              <a:rPr lang="en-US" sz="2014" dirty="0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Dr. Sergio Rogelio Tinoco Martínez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22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95944"/>
            <a:ext cx="18288000" cy="9095112"/>
            <a:chOff x="0" y="0"/>
            <a:chExt cx="4816593" cy="239542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395420"/>
            </a:xfrm>
            <a:custGeom>
              <a:avLst/>
              <a:gdLst/>
              <a:ahLst/>
              <a:cxnLst/>
              <a:rect l="l" t="t" r="r" b="b"/>
              <a:pathLst>
                <a:path w="4816592" h="2395420">
                  <a:moveTo>
                    <a:pt x="0" y="0"/>
                  </a:moveTo>
                  <a:lnTo>
                    <a:pt x="4816592" y="0"/>
                  </a:lnTo>
                  <a:lnTo>
                    <a:pt x="4816592" y="2395420"/>
                  </a:lnTo>
                  <a:lnTo>
                    <a:pt x="0" y="239542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24335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017975" y="6812268"/>
            <a:ext cx="2935444" cy="1684031"/>
            <a:chOff x="0" y="0"/>
            <a:chExt cx="773121" cy="35981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73121" cy="359819"/>
            </a:xfrm>
            <a:custGeom>
              <a:avLst/>
              <a:gdLst/>
              <a:ahLst/>
              <a:cxnLst/>
              <a:rect l="l" t="t" r="r" b="b"/>
              <a:pathLst>
                <a:path w="773121" h="359819">
                  <a:moveTo>
                    <a:pt x="150331" y="0"/>
                  </a:moveTo>
                  <a:lnTo>
                    <a:pt x="622790" y="0"/>
                  </a:lnTo>
                  <a:cubicBezTo>
                    <a:pt x="662660" y="0"/>
                    <a:pt x="700897" y="15838"/>
                    <a:pt x="729090" y="44031"/>
                  </a:cubicBezTo>
                  <a:cubicBezTo>
                    <a:pt x="757283" y="72224"/>
                    <a:pt x="773121" y="110461"/>
                    <a:pt x="773121" y="150331"/>
                  </a:cubicBezTo>
                  <a:lnTo>
                    <a:pt x="773121" y="209488"/>
                  </a:lnTo>
                  <a:cubicBezTo>
                    <a:pt x="773121" y="249358"/>
                    <a:pt x="757283" y="287595"/>
                    <a:pt x="729090" y="315788"/>
                  </a:cubicBezTo>
                  <a:cubicBezTo>
                    <a:pt x="700897" y="343981"/>
                    <a:pt x="662660" y="359819"/>
                    <a:pt x="622790" y="359819"/>
                  </a:cubicBezTo>
                  <a:lnTo>
                    <a:pt x="150331" y="359819"/>
                  </a:lnTo>
                  <a:cubicBezTo>
                    <a:pt x="110461" y="359819"/>
                    <a:pt x="72224" y="343981"/>
                    <a:pt x="44031" y="315788"/>
                  </a:cubicBezTo>
                  <a:cubicBezTo>
                    <a:pt x="15838" y="287595"/>
                    <a:pt x="0" y="249358"/>
                    <a:pt x="0" y="209488"/>
                  </a:cubicBezTo>
                  <a:lnTo>
                    <a:pt x="0" y="150331"/>
                  </a:lnTo>
                  <a:cubicBezTo>
                    <a:pt x="0" y="110461"/>
                    <a:pt x="15838" y="72224"/>
                    <a:pt x="44031" y="44031"/>
                  </a:cubicBezTo>
                  <a:cubicBezTo>
                    <a:pt x="72224" y="15838"/>
                    <a:pt x="110461" y="0"/>
                    <a:pt x="150331" y="0"/>
                  </a:cubicBezTo>
                  <a:close/>
                </a:path>
              </a:pathLst>
            </a:custGeom>
            <a:solidFill>
              <a:srgbClr val="FFDE59">
                <a:alpha val="60000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773121" cy="397919"/>
            </a:xfrm>
            <a:prstGeom prst="rect">
              <a:avLst/>
            </a:prstGeom>
          </p:spPr>
          <p:txBody>
            <a:bodyPr lIns="50800" tIns="2520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2400" dirty="0" err="1">
                  <a:solidFill>
                    <a:srgbClr val="000000">
                      <a:alpha val="60000"/>
                    </a:srgbClr>
                  </a:solidFill>
                  <a:latin typeface="Canva Sans"/>
                  <a:ea typeface="Canva Sans"/>
                  <a:cs typeface="Canva Sans"/>
                  <a:sym typeface="Canva Sans"/>
                </a:rPr>
                <a:t>Potencial</a:t>
              </a:r>
              <a:r>
                <a:rPr lang="en-US" sz="2400" dirty="0">
                  <a:solidFill>
                    <a:srgbClr val="000000">
                      <a:alpha val="60000"/>
                    </a:srgbClr>
                  </a:solidFill>
                  <a:latin typeface="Canva Sans"/>
                  <a:ea typeface="Canva Sans"/>
                  <a:cs typeface="Canva Sans"/>
                  <a:sym typeface="Canva Sans"/>
                </a:rPr>
                <a:t> de </a:t>
              </a:r>
              <a:r>
                <a:rPr lang="en-US" sz="2400" dirty="0" err="1">
                  <a:solidFill>
                    <a:srgbClr val="000000">
                      <a:alpha val="60000"/>
                    </a:srgbClr>
                  </a:solidFill>
                  <a:latin typeface="Canva Sans"/>
                  <a:ea typeface="Canva Sans"/>
                  <a:cs typeface="Canva Sans"/>
                  <a:sym typeface="Canva Sans"/>
                </a:rPr>
                <a:t>impacto</a:t>
              </a:r>
              <a:r>
                <a:rPr lang="en-US" sz="2400" dirty="0">
                  <a:solidFill>
                    <a:srgbClr val="000000">
                      <a:alpha val="60000"/>
                    </a:srgbClr>
                  </a:solidFill>
                  <a:latin typeface="Canva Sans"/>
                  <a:ea typeface="Canva Sans"/>
                  <a:cs typeface="Canva Sans"/>
                  <a:sym typeface="Canva Sans"/>
                </a:rPr>
                <a:t> para </a:t>
              </a:r>
              <a:r>
                <a:rPr lang="en-US" sz="2400" b="1" dirty="0">
                  <a:solidFill>
                    <a:srgbClr val="000000">
                      <a:alpha val="60000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23 </a:t>
              </a:r>
              <a:r>
                <a:rPr lang="en-US" sz="2400" b="1" dirty="0" err="1">
                  <a:solidFill>
                    <a:srgbClr val="000000">
                      <a:alpha val="60000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millones</a:t>
              </a:r>
              <a:r>
                <a:rPr lang="en-US" sz="2400" dirty="0">
                  <a:solidFill>
                    <a:srgbClr val="000000">
                      <a:alpha val="60000"/>
                    </a:srgbClr>
                  </a:solidFill>
                  <a:latin typeface="Canva Sans"/>
                  <a:ea typeface="Canva Sans"/>
                  <a:cs typeface="Canva Sans"/>
                  <a:sym typeface="Canva Sans"/>
                </a:rPr>
                <a:t> de personas.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9978147" y="1028700"/>
            <a:ext cx="7281153" cy="8229600"/>
          </a:xfrm>
          <a:custGeom>
            <a:avLst/>
            <a:gdLst/>
            <a:ahLst/>
            <a:cxnLst/>
            <a:rect l="l" t="t" r="r" b="b"/>
            <a:pathLst>
              <a:path w="7281153" h="8229600">
                <a:moveTo>
                  <a:pt x="0" y="0"/>
                </a:moveTo>
                <a:lnTo>
                  <a:pt x="7281153" y="0"/>
                </a:lnTo>
                <a:lnTo>
                  <a:pt x="728115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1603980" y="6812268"/>
            <a:ext cx="2936479" cy="1684031"/>
            <a:chOff x="0" y="0"/>
            <a:chExt cx="773394" cy="35981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73394" cy="359819"/>
            </a:xfrm>
            <a:custGeom>
              <a:avLst/>
              <a:gdLst/>
              <a:ahLst/>
              <a:cxnLst/>
              <a:rect l="l" t="t" r="r" b="b"/>
              <a:pathLst>
                <a:path w="773394" h="359819">
                  <a:moveTo>
                    <a:pt x="150278" y="0"/>
                  </a:moveTo>
                  <a:lnTo>
                    <a:pt x="623115" y="0"/>
                  </a:lnTo>
                  <a:cubicBezTo>
                    <a:pt x="706112" y="0"/>
                    <a:pt x="773394" y="67282"/>
                    <a:pt x="773394" y="150278"/>
                  </a:cubicBezTo>
                  <a:lnTo>
                    <a:pt x="773394" y="209541"/>
                  </a:lnTo>
                  <a:cubicBezTo>
                    <a:pt x="773394" y="292537"/>
                    <a:pt x="706112" y="359819"/>
                    <a:pt x="623115" y="359819"/>
                  </a:cubicBezTo>
                  <a:lnTo>
                    <a:pt x="150278" y="359819"/>
                  </a:lnTo>
                  <a:cubicBezTo>
                    <a:pt x="67282" y="359819"/>
                    <a:pt x="0" y="292537"/>
                    <a:pt x="0" y="209541"/>
                  </a:cubicBezTo>
                  <a:lnTo>
                    <a:pt x="0" y="150278"/>
                  </a:lnTo>
                  <a:cubicBezTo>
                    <a:pt x="0" y="67282"/>
                    <a:pt x="67282" y="0"/>
                    <a:pt x="150278" y="0"/>
                  </a:cubicBezTo>
                  <a:close/>
                </a:path>
              </a:pathLst>
            </a:custGeom>
            <a:solidFill>
              <a:srgbClr val="FFDE59">
                <a:alpha val="60000"/>
              </a:srgbClr>
            </a:solidFill>
            <a:ln cap="rnd">
              <a:noFill/>
              <a:prstDash val="solid"/>
              <a:round/>
            </a:ln>
          </p:spPr>
          <p:txBody>
            <a:bodyPr tIns="252000"/>
            <a:lstStyle/>
            <a:p>
              <a:endParaRPr lang="es-MX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773394" cy="397919"/>
            </a:xfrm>
            <a:prstGeom prst="rect">
              <a:avLst/>
            </a:prstGeom>
          </p:spPr>
          <p:txBody>
            <a:bodyPr lIns="50800" tIns="2520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000000">
                      <a:alpha val="60000"/>
                    </a:srgbClr>
                  </a:solidFill>
                  <a:latin typeface="Canva Sans"/>
                  <a:ea typeface="Canva Sans"/>
                  <a:cs typeface="Canva Sans"/>
                  <a:sym typeface="Canva Sans"/>
                </a:rPr>
                <a:t>Ubicado a 65 km de CDMX y 45 km de Puebla.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28700" y="3105655"/>
            <a:ext cx="7499998" cy="3060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00"/>
              </a:lnSpc>
            </a:pPr>
            <a:r>
              <a:rPr lang="en-US" sz="2500">
                <a:solidFill>
                  <a:srgbClr val="0F439B"/>
                </a:solidFill>
                <a:latin typeface="Canva Sans"/>
                <a:ea typeface="Canva Sans"/>
                <a:cs typeface="Canva Sans"/>
                <a:sym typeface="Canva Sans"/>
              </a:rPr>
              <a:t>Desde 1994, el Popocatépetl mantiene actividad constante. </a:t>
            </a:r>
          </a:p>
          <a:p>
            <a:pPr algn="just">
              <a:lnSpc>
                <a:spcPts val="3500"/>
              </a:lnSpc>
            </a:pPr>
            <a:endParaRPr lang="en-US" sz="2500">
              <a:solidFill>
                <a:srgbClr val="0F439B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just">
              <a:lnSpc>
                <a:spcPts val="3500"/>
              </a:lnSpc>
            </a:pPr>
            <a:r>
              <a:rPr lang="en-US" sz="2500">
                <a:solidFill>
                  <a:srgbClr val="0F439B"/>
                </a:solidFill>
                <a:latin typeface="Canva Sans"/>
                <a:ea typeface="Canva Sans"/>
                <a:cs typeface="Canva Sans"/>
                <a:sym typeface="Canva Sans"/>
              </a:rPr>
              <a:t>Eventos como el de enero de 2001 y octubre de 2024 evidencian su impacto. Incluso erupciones moderadas causan cierres de aeropuertos y caída de ceniza.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1000125"/>
            <a:ext cx="5238067" cy="1577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250"/>
              </a:lnSpc>
            </a:pPr>
            <a:r>
              <a:rPr lang="en-US" sz="5000" b="1" spc="-165">
                <a:solidFill>
                  <a:srgbClr val="242258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¿Por qué el volcán    Popocatépetl?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978147" y="9318653"/>
            <a:ext cx="728115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959"/>
              </a:lnSpc>
            </a:pPr>
            <a:r>
              <a:rPr lang="en-US" sz="1399">
                <a:solidFill>
                  <a:srgbClr val="0F439B"/>
                </a:solidFill>
                <a:latin typeface="Canva Sans"/>
                <a:ea typeface="Canva Sans"/>
                <a:cs typeface="Canva Sans"/>
                <a:sym typeface="Canva Sans"/>
              </a:rPr>
              <a:t>imagen tomada de: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22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6224" y="595944"/>
            <a:ext cx="18211776" cy="9095112"/>
            <a:chOff x="0" y="0"/>
            <a:chExt cx="4796517" cy="239542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796517" cy="2395420"/>
            </a:xfrm>
            <a:custGeom>
              <a:avLst/>
              <a:gdLst/>
              <a:ahLst/>
              <a:cxnLst/>
              <a:rect l="l" t="t" r="r" b="b"/>
              <a:pathLst>
                <a:path w="4796517" h="2395420">
                  <a:moveTo>
                    <a:pt x="0" y="0"/>
                  </a:moveTo>
                  <a:lnTo>
                    <a:pt x="4796517" y="0"/>
                  </a:lnTo>
                  <a:lnTo>
                    <a:pt x="4796517" y="2395420"/>
                  </a:lnTo>
                  <a:lnTo>
                    <a:pt x="0" y="239542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796517" cy="24335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7245983" y="2745715"/>
            <a:ext cx="10114949" cy="6283912"/>
          </a:xfrm>
          <a:custGeom>
            <a:avLst/>
            <a:gdLst/>
            <a:ahLst/>
            <a:cxnLst/>
            <a:rect l="l" t="t" r="r" b="b"/>
            <a:pathLst>
              <a:path w="10114949" h="6283912">
                <a:moveTo>
                  <a:pt x="0" y="0"/>
                </a:moveTo>
                <a:lnTo>
                  <a:pt x="10114949" y="0"/>
                </a:lnTo>
                <a:lnTo>
                  <a:pt x="10114949" y="6283912"/>
                </a:lnTo>
                <a:lnTo>
                  <a:pt x="0" y="62839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28700" y="3410552"/>
            <a:ext cx="5456997" cy="2622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00"/>
              </a:lnSpc>
            </a:pPr>
            <a:r>
              <a:rPr lang="en-US" sz="2500">
                <a:solidFill>
                  <a:srgbClr val="0F439B"/>
                </a:solidFill>
                <a:latin typeface="Canva Sans"/>
                <a:ea typeface="Canva Sans"/>
                <a:cs typeface="Canva Sans"/>
                <a:sym typeface="Canva Sans"/>
              </a:rPr>
              <a:t>CENAPRED usa monitoreo sísmico, geoquímico, geodésico y visual.</a:t>
            </a:r>
          </a:p>
          <a:p>
            <a:pPr algn="just">
              <a:lnSpc>
                <a:spcPts val="3500"/>
              </a:lnSpc>
            </a:pPr>
            <a:endParaRPr lang="en-US" sz="2500">
              <a:solidFill>
                <a:srgbClr val="0F439B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539754" lvl="1" indent="-269877" algn="just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0F439B"/>
                </a:solidFill>
                <a:latin typeface="Canva Sans"/>
                <a:ea typeface="Canva Sans"/>
                <a:cs typeface="Canva Sans"/>
                <a:sym typeface="Canva Sans"/>
              </a:rPr>
              <a:t>Las cámaras ópticas y térmicas son herramientas clave para la vigilancia diaria.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1000125"/>
            <a:ext cx="6025717" cy="1577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250"/>
              </a:lnSpc>
            </a:pPr>
            <a:r>
              <a:rPr lang="en-US" sz="5000" b="1" spc="-165">
                <a:solidFill>
                  <a:srgbClr val="242258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Monitoreo actual por CENAPRED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22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6224" y="595944"/>
            <a:ext cx="18211776" cy="9095112"/>
            <a:chOff x="0" y="0"/>
            <a:chExt cx="4796517" cy="239542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796517" cy="2395420"/>
            </a:xfrm>
            <a:custGeom>
              <a:avLst/>
              <a:gdLst/>
              <a:ahLst/>
              <a:cxnLst/>
              <a:rect l="l" t="t" r="r" b="b"/>
              <a:pathLst>
                <a:path w="4796517" h="2395420">
                  <a:moveTo>
                    <a:pt x="0" y="0"/>
                  </a:moveTo>
                  <a:lnTo>
                    <a:pt x="4796517" y="0"/>
                  </a:lnTo>
                  <a:lnTo>
                    <a:pt x="4796517" y="2395420"/>
                  </a:lnTo>
                  <a:lnTo>
                    <a:pt x="0" y="239542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796517" cy="24335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60790" y="595944"/>
            <a:ext cx="3411461" cy="9095112"/>
          </a:xfrm>
          <a:custGeom>
            <a:avLst/>
            <a:gdLst/>
            <a:ahLst/>
            <a:cxnLst/>
            <a:rect l="l" t="t" r="r" b="b"/>
            <a:pathLst>
              <a:path w="3411461" h="9095112">
                <a:moveTo>
                  <a:pt x="0" y="0"/>
                </a:moveTo>
                <a:lnTo>
                  <a:pt x="3411461" y="0"/>
                </a:lnTo>
                <a:lnTo>
                  <a:pt x="3411461" y="9095112"/>
                </a:lnTo>
                <a:lnTo>
                  <a:pt x="0" y="90951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995" b="-7853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52561" y="6618770"/>
            <a:ext cx="2920651" cy="803179"/>
          </a:xfrm>
          <a:custGeom>
            <a:avLst/>
            <a:gdLst/>
            <a:ahLst/>
            <a:cxnLst/>
            <a:rect l="l" t="t" r="r" b="b"/>
            <a:pathLst>
              <a:path w="2920651" h="803179">
                <a:moveTo>
                  <a:pt x="0" y="0"/>
                </a:moveTo>
                <a:lnTo>
                  <a:pt x="2920652" y="0"/>
                </a:lnTo>
                <a:lnTo>
                  <a:pt x="2920652" y="803179"/>
                </a:lnTo>
                <a:lnTo>
                  <a:pt x="0" y="8031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AutoShape 7"/>
          <p:cNvSpPr/>
          <p:nvPr/>
        </p:nvSpPr>
        <p:spPr>
          <a:xfrm flipV="1">
            <a:off x="3573213" y="7014607"/>
            <a:ext cx="4874385" cy="5752"/>
          </a:xfrm>
          <a:prstGeom prst="line">
            <a:avLst/>
          </a:prstGeom>
          <a:ln w="38100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8" name="Freeform 8"/>
          <p:cNvSpPr/>
          <p:nvPr/>
        </p:nvSpPr>
        <p:spPr>
          <a:xfrm>
            <a:off x="8447598" y="5013605"/>
            <a:ext cx="7689441" cy="3210329"/>
          </a:xfrm>
          <a:custGeom>
            <a:avLst/>
            <a:gdLst/>
            <a:ahLst/>
            <a:cxnLst/>
            <a:rect l="l" t="t" r="r" b="b"/>
            <a:pathLst>
              <a:path w="7689441" h="3210329">
                <a:moveTo>
                  <a:pt x="0" y="0"/>
                </a:moveTo>
                <a:lnTo>
                  <a:pt x="7689441" y="0"/>
                </a:lnTo>
                <a:lnTo>
                  <a:pt x="7689441" y="3210329"/>
                </a:lnTo>
                <a:lnTo>
                  <a:pt x="0" y="321032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r="-14350" b="-8671"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9911246" y="3022984"/>
            <a:ext cx="4762146" cy="1175977"/>
            <a:chOff x="0" y="0"/>
            <a:chExt cx="1254228" cy="30972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54228" cy="309722"/>
            </a:xfrm>
            <a:custGeom>
              <a:avLst/>
              <a:gdLst/>
              <a:ahLst/>
              <a:cxnLst/>
              <a:rect l="l" t="t" r="r" b="b"/>
              <a:pathLst>
                <a:path w="1254228" h="309722">
                  <a:moveTo>
                    <a:pt x="1051028" y="0"/>
                  </a:moveTo>
                  <a:cubicBezTo>
                    <a:pt x="1163252" y="0"/>
                    <a:pt x="1254228" y="69334"/>
                    <a:pt x="1254228" y="154861"/>
                  </a:cubicBezTo>
                  <a:cubicBezTo>
                    <a:pt x="1254228" y="240389"/>
                    <a:pt x="1163252" y="309722"/>
                    <a:pt x="1051028" y="309722"/>
                  </a:cubicBezTo>
                  <a:lnTo>
                    <a:pt x="203200" y="309722"/>
                  </a:lnTo>
                  <a:cubicBezTo>
                    <a:pt x="90976" y="309722"/>
                    <a:pt x="0" y="240389"/>
                    <a:pt x="0" y="154861"/>
                  </a:cubicBezTo>
                  <a:cubicBezTo>
                    <a:pt x="0" y="69334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1254228" cy="3573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242258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Imágenes de 1999 a 2024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5367832" y="981075"/>
            <a:ext cx="9468568" cy="806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00"/>
              </a:lnSpc>
            </a:pPr>
            <a:r>
              <a:rPr lang="en-US" sz="5000" b="1" spc="-165">
                <a:solidFill>
                  <a:srgbClr val="242258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Reportes  de  CENAPPRED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788575" y="8935085"/>
            <a:ext cx="12521803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i="1">
                <a:solidFill>
                  <a:srgbClr val="242258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https://www.cenapred.unam.mx/reportesVolcanesMX/Procesos?tipoProceso=detallesUltimoReporteVolcan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22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6224" y="595944"/>
            <a:ext cx="18211776" cy="9095112"/>
            <a:chOff x="0" y="0"/>
            <a:chExt cx="4796517" cy="239542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796517" cy="2395420"/>
            </a:xfrm>
            <a:custGeom>
              <a:avLst/>
              <a:gdLst/>
              <a:ahLst/>
              <a:cxnLst/>
              <a:rect l="l" t="t" r="r" b="b"/>
              <a:pathLst>
                <a:path w="4796517" h="2395420">
                  <a:moveTo>
                    <a:pt x="0" y="0"/>
                  </a:moveTo>
                  <a:lnTo>
                    <a:pt x="4796517" y="0"/>
                  </a:lnTo>
                  <a:lnTo>
                    <a:pt x="4796517" y="2395420"/>
                  </a:lnTo>
                  <a:lnTo>
                    <a:pt x="0" y="239542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796517" cy="24335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336468" y="2815548"/>
            <a:ext cx="6594145" cy="4055805"/>
          </a:xfrm>
          <a:custGeom>
            <a:avLst/>
            <a:gdLst/>
            <a:ahLst/>
            <a:cxnLst/>
            <a:rect l="l" t="t" r="r" b="b"/>
            <a:pathLst>
              <a:path w="6594145" h="4055805">
                <a:moveTo>
                  <a:pt x="0" y="0"/>
                </a:moveTo>
                <a:lnTo>
                  <a:pt x="6594145" y="0"/>
                </a:lnTo>
                <a:lnTo>
                  <a:pt x="6594145" y="4055805"/>
                </a:lnTo>
                <a:lnTo>
                  <a:pt x="0" y="40558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6603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699715" y="1304412"/>
            <a:ext cx="14964795" cy="6754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75"/>
              </a:lnSpc>
            </a:pPr>
            <a:r>
              <a:rPr lang="en-US" sz="4199" b="1" spc="-138" dirty="0">
                <a:solidFill>
                  <a:srgbClr val="242258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Videos </a:t>
            </a:r>
            <a:r>
              <a:rPr lang="en-US" sz="4199" b="1" spc="-138" dirty="0" err="1">
                <a:solidFill>
                  <a:srgbClr val="242258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en</a:t>
            </a:r>
            <a:r>
              <a:rPr lang="en-US" sz="4199" b="1" spc="-138" dirty="0">
                <a:solidFill>
                  <a:srgbClr val="242258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YouTube (Webcams de México)</a:t>
            </a:r>
          </a:p>
        </p:txBody>
      </p:sp>
      <p:sp>
        <p:nvSpPr>
          <p:cNvPr id="7" name="Freeform 7"/>
          <p:cNvSpPr/>
          <p:nvPr/>
        </p:nvSpPr>
        <p:spPr>
          <a:xfrm>
            <a:off x="9249723" y="2996523"/>
            <a:ext cx="7711335" cy="5455769"/>
          </a:xfrm>
          <a:custGeom>
            <a:avLst/>
            <a:gdLst/>
            <a:ahLst/>
            <a:cxnLst/>
            <a:rect l="l" t="t" r="r" b="b"/>
            <a:pathLst>
              <a:path w="7711335" h="5455769">
                <a:moveTo>
                  <a:pt x="0" y="0"/>
                </a:moveTo>
                <a:lnTo>
                  <a:pt x="7711334" y="0"/>
                </a:lnTo>
                <a:lnTo>
                  <a:pt x="7711334" y="5455769"/>
                </a:lnTo>
                <a:lnTo>
                  <a:pt x="0" y="54557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2080126" y="7274280"/>
            <a:ext cx="5087777" cy="1636512"/>
            <a:chOff x="0" y="0"/>
            <a:chExt cx="1115694" cy="35886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15694" cy="358869"/>
            </a:xfrm>
            <a:custGeom>
              <a:avLst/>
              <a:gdLst/>
              <a:ahLst/>
              <a:cxnLst/>
              <a:rect l="l" t="t" r="r" b="b"/>
              <a:pathLst>
                <a:path w="1115694" h="358869">
                  <a:moveTo>
                    <a:pt x="912494" y="0"/>
                  </a:moveTo>
                  <a:cubicBezTo>
                    <a:pt x="1024719" y="0"/>
                    <a:pt x="1115694" y="80336"/>
                    <a:pt x="1115694" y="179435"/>
                  </a:cubicBezTo>
                  <a:cubicBezTo>
                    <a:pt x="1115694" y="278534"/>
                    <a:pt x="1024719" y="358869"/>
                    <a:pt x="912494" y="358869"/>
                  </a:cubicBezTo>
                  <a:lnTo>
                    <a:pt x="203200" y="358869"/>
                  </a:lnTo>
                  <a:cubicBezTo>
                    <a:pt x="90976" y="358869"/>
                    <a:pt x="0" y="278534"/>
                    <a:pt x="0" y="179435"/>
                  </a:cubicBezTo>
                  <a:cubicBezTo>
                    <a:pt x="0" y="8033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1115694" cy="4064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 dirty="0" err="1">
                  <a:solidFill>
                    <a:srgbClr val="242258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Decenas</a:t>
              </a:r>
              <a:r>
                <a:rPr lang="en-US" sz="2499" dirty="0">
                  <a:solidFill>
                    <a:srgbClr val="242258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de miles de frames (</a:t>
              </a:r>
              <a:r>
                <a:rPr lang="en-US" sz="2499" dirty="0" err="1">
                  <a:solidFill>
                    <a:srgbClr val="242258"/>
                  </a:solidFill>
                  <a:latin typeface="Canva Sans"/>
                  <a:ea typeface="Canva Sans"/>
                  <a:cs typeface="Canva Sans"/>
                  <a:sym typeface="Canva Sans"/>
                </a:rPr>
                <a:t>imágenes</a:t>
              </a:r>
              <a:r>
                <a:rPr lang="en-US" sz="2499" dirty="0">
                  <a:solidFill>
                    <a:srgbClr val="242258"/>
                  </a:solidFill>
                  <a:latin typeface="Canva Sans"/>
                  <a:ea typeface="Canva Sans"/>
                  <a:cs typeface="Canva Sans"/>
                  <a:sym typeface="Canva Sans"/>
                </a:rPr>
                <a:t>) por video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1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4336" y="595944"/>
            <a:ext cx="18402336" cy="9095112"/>
            <a:chOff x="0" y="0"/>
            <a:chExt cx="4846706" cy="239542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46706" cy="2395420"/>
            </a:xfrm>
            <a:custGeom>
              <a:avLst/>
              <a:gdLst/>
              <a:ahLst/>
              <a:cxnLst/>
              <a:rect l="l" t="t" r="r" b="b"/>
              <a:pathLst>
                <a:path w="4846706" h="2395420">
                  <a:moveTo>
                    <a:pt x="0" y="0"/>
                  </a:moveTo>
                  <a:lnTo>
                    <a:pt x="4846706" y="0"/>
                  </a:lnTo>
                  <a:lnTo>
                    <a:pt x="4846706" y="2395420"/>
                  </a:lnTo>
                  <a:lnTo>
                    <a:pt x="0" y="239542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46706" cy="24335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893628" y="3605241"/>
            <a:ext cx="4815851" cy="2057899"/>
            <a:chOff x="0" y="0"/>
            <a:chExt cx="1664968" cy="71147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64968" cy="711470"/>
            </a:xfrm>
            <a:custGeom>
              <a:avLst/>
              <a:gdLst/>
              <a:ahLst/>
              <a:cxnLst/>
              <a:rect l="l" t="t" r="r" b="b"/>
              <a:pathLst>
                <a:path w="1664968" h="711470">
                  <a:moveTo>
                    <a:pt x="91633" y="0"/>
                  </a:moveTo>
                  <a:lnTo>
                    <a:pt x="1573335" y="0"/>
                  </a:lnTo>
                  <a:cubicBezTo>
                    <a:pt x="1597637" y="0"/>
                    <a:pt x="1620944" y="9654"/>
                    <a:pt x="1638129" y="26839"/>
                  </a:cubicBezTo>
                  <a:cubicBezTo>
                    <a:pt x="1655313" y="44023"/>
                    <a:pt x="1664968" y="67330"/>
                    <a:pt x="1664968" y="91633"/>
                  </a:cubicBezTo>
                  <a:lnTo>
                    <a:pt x="1664968" y="619838"/>
                  </a:lnTo>
                  <a:cubicBezTo>
                    <a:pt x="1664968" y="670445"/>
                    <a:pt x="1623942" y="711470"/>
                    <a:pt x="1573335" y="711470"/>
                  </a:cubicBezTo>
                  <a:lnTo>
                    <a:pt x="91633" y="711470"/>
                  </a:lnTo>
                  <a:cubicBezTo>
                    <a:pt x="41025" y="711470"/>
                    <a:pt x="0" y="670445"/>
                    <a:pt x="0" y="619838"/>
                  </a:cubicBezTo>
                  <a:lnTo>
                    <a:pt x="0" y="91633"/>
                  </a:lnTo>
                  <a:cubicBezTo>
                    <a:pt x="0" y="41025"/>
                    <a:pt x="41025" y="0"/>
                    <a:pt x="91633" y="0"/>
                  </a:cubicBezTo>
                  <a:close/>
                </a:path>
              </a:pathLst>
            </a:custGeom>
            <a:solidFill>
              <a:srgbClr val="89C0FF">
                <a:alpha val="60000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664968" cy="7495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2400" dirty="0" err="1">
                  <a:solidFill>
                    <a:srgbClr val="000000">
                      <a:alpha val="60000"/>
                    </a:srgbClr>
                  </a:solidFill>
                  <a:latin typeface="Canva Sans"/>
                  <a:ea typeface="Canva Sans"/>
                  <a:cs typeface="Canva Sans"/>
                  <a:sym typeface="Canva Sans"/>
                </a:rPr>
                <a:t>Vigilancia</a:t>
              </a:r>
              <a:r>
                <a:rPr lang="en-US" sz="2400" dirty="0">
                  <a:solidFill>
                    <a:srgbClr val="000000">
                      <a:alpha val="60000"/>
                    </a:srgbClr>
                  </a:solidFill>
                  <a:latin typeface="Canva Sans"/>
                  <a:ea typeface="Canva Sans"/>
                  <a:cs typeface="Canva Sans"/>
                  <a:sym typeface="Canva Sans"/>
                </a:rPr>
                <a:t> y </a:t>
              </a:r>
              <a:r>
                <a:rPr lang="en-US" sz="2400" dirty="0" err="1">
                  <a:solidFill>
                    <a:srgbClr val="000000">
                      <a:alpha val="60000"/>
                    </a:srgbClr>
                  </a:solidFill>
                  <a:latin typeface="Canva Sans"/>
                  <a:ea typeface="Canva Sans"/>
                  <a:cs typeface="Canva Sans"/>
                  <a:sym typeface="Canva Sans"/>
                </a:rPr>
                <a:t>monitoreo</a:t>
              </a:r>
              <a:r>
                <a:rPr lang="en-US" sz="2400" dirty="0">
                  <a:solidFill>
                    <a:srgbClr val="000000">
                      <a:alpha val="60000"/>
                    </a:srgbClr>
                  </a:solidFill>
                  <a:latin typeface="Canva Sans"/>
                  <a:ea typeface="Canva Sans"/>
                  <a:cs typeface="Canva Sans"/>
                  <a:sym typeface="Canva Sans"/>
                </a:rPr>
                <a:t> visual </a:t>
              </a:r>
              <a:r>
                <a:rPr lang="en-US" sz="2400" dirty="0" err="1">
                  <a:solidFill>
                    <a:srgbClr val="000000">
                      <a:alpha val="60000"/>
                    </a:srgbClr>
                  </a:solidFill>
                  <a:latin typeface="Canva Sans"/>
                  <a:ea typeface="Canva Sans"/>
                  <a:cs typeface="Canva Sans"/>
                  <a:sym typeface="Canva Sans"/>
                </a:rPr>
                <a:t>realizado</a:t>
              </a:r>
              <a:r>
                <a:rPr lang="en-US" sz="2400" dirty="0">
                  <a:solidFill>
                    <a:srgbClr val="000000">
                      <a:alpha val="60000"/>
                    </a:srgbClr>
                  </a:solidFill>
                  <a:latin typeface="Canva Sans"/>
                  <a:ea typeface="Canva Sans"/>
                  <a:cs typeface="Canva Sans"/>
                  <a:sym typeface="Canva Sans"/>
                </a:rPr>
                <a:t> por una persona </a:t>
              </a:r>
              <a:r>
                <a:rPr lang="en-US" sz="2400" b="1" dirty="0" err="1">
                  <a:solidFill>
                    <a:srgbClr val="FF0000">
                      <a:alpha val="60000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manualmente</a:t>
              </a:r>
              <a:endParaRPr lang="en-US" sz="2400" b="1" dirty="0">
                <a:solidFill>
                  <a:srgbClr val="FF0000">
                    <a:alpha val="60000"/>
                  </a:srgbClr>
                </a:solidFill>
                <a:latin typeface="Canva Sans Bold"/>
                <a:ea typeface="Canva Sans Bold"/>
                <a:cs typeface="Canva Sans Bold"/>
                <a:sym typeface="Canva Sans Bold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447067" y="2493331"/>
            <a:ext cx="3521179" cy="2243586"/>
            <a:chOff x="0" y="0"/>
            <a:chExt cx="1171888" cy="74669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71888" cy="746690"/>
            </a:xfrm>
            <a:custGeom>
              <a:avLst/>
              <a:gdLst/>
              <a:ahLst/>
              <a:cxnLst/>
              <a:rect l="l" t="t" r="r" b="b"/>
              <a:pathLst>
                <a:path w="1171888" h="746690">
                  <a:moveTo>
                    <a:pt x="125324" y="0"/>
                  </a:moveTo>
                  <a:lnTo>
                    <a:pt x="1046563" y="0"/>
                  </a:lnTo>
                  <a:cubicBezTo>
                    <a:pt x="1079802" y="0"/>
                    <a:pt x="1111678" y="13204"/>
                    <a:pt x="1135181" y="36707"/>
                  </a:cubicBezTo>
                  <a:cubicBezTo>
                    <a:pt x="1158684" y="60210"/>
                    <a:pt x="1171888" y="92086"/>
                    <a:pt x="1171888" y="125324"/>
                  </a:cubicBezTo>
                  <a:lnTo>
                    <a:pt x="1171888" y="621366"/>
                  </a:lnTo>
                  <a:cubicBezTo>
                    <a:pt x="1171888" y="654604"/>
                    <a:pt x="1158684" y="686481"/>
                    <a:pt x="1135181" y="709984"/>
                  </a:cubicBezTo>
                  <a:cubicBezTo>
                    <a:pt x="1111678" y="733487"/>
                    <a:pt x="1079802" y="746690"/>
                    <a:pt x="1046563" y="746690"/>
                  </a:cubicBezTo>
                  <a:lnTo>
                    <a:pt x="125324" y="746690"/>
                  </a:lnTo>
                  <a:cubicBezTo>
                    <a:pt x="92086" y="746690"/>
                    <a:pt x="60210" y="733487"/>
                    <a:pt x="36707" y="709984"/>
                  </a:cubicBezTo>
                  <a:cubicBezTo>
                    <a:pt x="13204" y="686481"/>
                    <a:pt x="0" y="654604"/>
                    <a:pt x="0" y="621366"/>
                  </a:cubicBezTo>
                  <a:lnTo>
                    <a:pt x="0" y="125324"/>
                  </a:lnTo>
                  <a:cubicBezTo>
                    <a:pt x="0" y="92086"/>
                    <a:pt x="13204" y="60210"/>
                    <a:pt x="36707" y="36707"/>
                  </a:cubicBezTo>
                  <a:cubicBezTo>
                    <a:pt x="60210" y="13204"/>
                    <a:pt x="92086" y="0"/>
                    <a:pt x="125324" y="0"/>
                  </a:cubicBezTo>
                  <a:close/>
                </a:path>
              </a:pathLst>
            </a:custGeom>
            <a:solidFill>
              <a:srgbClr val="FFDE59">
                <a:alpha val="60000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171888" cy="7847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9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000000">
                      <a:alpha val="60000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6 cámaras de video</a:t>
              </a:r>
              <a:r>
                <a:rPr lang="en-US" sz="2400">
                  <a:solidFill>
                    <a:srgbClr val="000000">
                      <a:alpha val="60000"/>
                    </a:srgbClr>
                  </a:solidFill>
                  <a:latin typeface="Canva Sans"/>
                  <a:ea typeface="Canva Sans"/>
                  <a:cs typeface="Canva Sans"/>
                  <a:sym typeface="Canva Sans"/>
                </a:rPr>
                <a:t> en diferentes puntos alrededor del volcán.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878364" y="5531034"/>
            <a:ext cx="3521179" cy="2243586"/>
            <a:chOff x="0" y="0"/>
            <a:chExt cx="1171888" cy="74669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171888" cy="746690"/>
            </a:xfrm>
            <a:custGeom>
              <a:avLst/>
              <a:gdLst/>
              <a:ahLst/>
              <a:cxnLst/>
              <a:rect l="l" t="t" r="r" b="b"/>
              <a:pathLst>
                <a:path w="1171888" h="746690">
                  <a:moveTo>
                    <a:pt x="125324" y="0"/>
                  </a:moveTo>
                  <a:lnTo>
                    <a:pt x="1046563" y="0"/>
                  </a:lnTo>
                  <a:cubicBezTo>
                    <a:pt x="1079802" y="0"/>
                    <a:pt x="1111678" y="13204"/>
                    <a:pt x="1135181" y="36707"/>
                  </a:cubicBezTo>
                  <a:cubicBezTo>
                    <a:pt x="1158684" y="60210"/>
                    <a:pt x="1171888" y="92086"/>
                    <a:pt x="1171888" y="125324"/>
                  </a:cubicBezTo>
                  <a:lnTo>
                    <a:pt x="1171888" y="621366"/>
                  </a:lnTo>
                  <a:cubicBezTo>
                    <a:pt x="1171888" y="654604"/>
                    <a:pt x="1158684" y="686481"/>
                    <a:pt x="1135181" y="709984"/>
                  </a:cubicBezTo>
                  <a:cubicBezTo>
                    <a:pt x="1111678" y="733487"/>
                    <a:pt x="1079802" y="746690"/>
                    <a:pt x="1046563" y="746690"/>
                  </a:cubicBezTo>
                  <a:lnTo>
                    <a:pt x="125324" y="746690"/>
                  </a:lnTo>
                  <a:cubicBezTo>
                    <a:pt x="92086" y="746690"/>
                    <a:pt x="60210" y="733487"/>
                    <a:pt x="36707" y="709984"/>
                  </a:cubicBezTo>
                  <a:cubicBezTo>
                    <a:pt x="13204" y="686481"/>
                    <a:pt x="0" y="654604"/>
                    <a:pt x="0" y="621366"/>
                  </a:cubicBezTo>
                  <a:lnTo>
                    <a:pt x="0" y="125324"/>
                  </a:lnTo>
                  <a:cubicBezTo>
                    <a:pt x="0" y="92086"/>
                    <a:pt x="13204" y="60210"/>
                    <a:pt x="36707" y="36707"/>
                  </a:cubicBezTo>
                  <a:cubicBezTo>
                    <a:pt x="60210" y="13204"/>
                    <a:pt x="92086" y="0"/>
                    <a:pt x="125324" y="0"/>
                  </a:cubicBezTo>
                  <a:close/>
                </a:path>
              </a:pathLst>
            </a:custGeom>
            <a:solidFill>
              <a:srgbClr val="FFDE59">
                <a:alpha val="60000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171888" cy="7847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9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000000">
                      <a:alpha val="60000"/>
                    </a:srgbClr>
                  </a:solidFill>
                  <a:latin typeface="Canva Sans"/>
                  <a:ea typeface="Canva Sans"/>
                  <a:cs typeface="Canva Sans"/>
                  <a:sym typeface="Canva Sans"/>
                </a:rPr>
                <a:t>Webcams de México: transmisión a través de su sitio web y </a:t>
              </a:r>
              <a:r>
                <a:rPr lang="en-US" sz="2400" b="1">
                  <a:solidFill>
                    <a:srgbClr val="000000">
                      <a:alpha val="60000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YouTube</a:t>
              </a:r>
              <a:r>
                <a:rPr lang="en-US" sz="2400">
                  <a:solidFill>
                    <a:srgbClr val="000000">
                      <a:alpha val="60000"/>
                    </a:srgbClr>
                  </a:solidFill>
                  <a:latin typeface="Canva Sans"/>
                  <a:ea typeface="Canva Sans"/>
                  <a:cs typeface="Canva Sans"/>
                  <a:sym typeface="Canva Sans"/>
                </a:rPr>
                <a:t>.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28700" y="5531034"/>
            <a:ext cx="3521179" cy="2243586"/>
            <a:chOff x="0" y="0"/>
            <a:chExt cx="1171888" cy="74669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171888" cy="746690"/>
            </a:xfrm>
            <a:custGeom>
              <a:avLst/>
              <a:gdLst/>
              <a:ahLst/>
              <a:cxnLst/>
              <a:rect l="l" t="t" r="r" b="b"/>
              <a:pathLst>
                <a:path w="1171888" h="746690">
                  <a:moveTo>
                    <a:pt x="125324" y="0"/>
                  </a:moveTo>
                  <a:lnTo>
                    <a:pt x="1046563" y="0"/>
                  </a:lnTo>
                  <a:cubicBezTo>
                    <a:pt x="1079802" y="0"/>
                    <a:pt x="1111678" y="13204"/>
                    <a:pt x="1135181" y="36707"/>
                  </a:cubicBezTo>
                  <a:cubicBezTo>
                    <a:pt x="1158684" y="60210"/>
                    <a:pt x="1171888" y="92086"/>
                    <a:pt x="1171888" y="125324"/>
                  </a:cubicBezTo>
                  <a:lnTo>
                    <a:pt x="1171888" y="621366"/>
                  </a:lnTo>
                  <a:cubicBezTo>
                    <a:pt x="1171888" y="654604"/>
                    <a:pt x="1158684" y="686481"/>
                    <a:pt x="1135181" y="709984"/>
                  </a:cubicBezTo>
                  <a:cubicBezTo>
                    <a:pt x="1111678" y="733487"/>
                    <a:pt x="1079802" y="746690"/>
                    <a:pt x="1046563" y="746690"/>
                  </a:cubicBezTo>
                  <a:lnTo>
                    <a:pt x="125324" y="746690"/>
                  </a:lnTo>
                  <a:cubicBezTo>
                    <a:pt x="92086" y="746690"/>
                    <a:pt x="60210" y="733487"/>
                    <a:pt x="36707" y="709984"/>
                  </a:cubicBezTo>
                  <a:cubicBezTo>
                    <a:pt x="13204" y="686481"/>
                    <a:pt x="0" y="654604"/>
                    <a:pt x="0" y="621366"/>
                  </a:cubicBezTo>
                  <a:lnTo>
                    <a:pt x="0" y="125324"/>
                  </a:lnTo>
                  <a:cubicBezTo>
                    <a:pt x="0" y="92086"/>
                    <a:pt x="13204" y="60210"/>
                    <a:pt x="36707" y="36707"/>
                  </a:cubicBezTo>
                  <a:cubicBezTo>
                    <a:pt x="60210" y="13204"/>
                    <a:pt x="92086" y="0"/>
                    <a:pt x="125324" y="0"/>
                  </a:cubicBezTo>
                  <a:close/>
                </a:path>
              </a:pathLst>
            </a:custGeom>
            <a:solidFill>
              <a:srgbClr val="FFDE59">
                <a:alpha val="60000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171888" cy="7847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9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000000">
                      <a:alpha val="60000"/>
                    </a:srgbClr>
                  </a:solidFill>
                  <a:latin typeface="Canva Sans"/>
                  <a:ea typeface="Canva Sans"/>
                  <a:cs typeface="Canva Sans"/>
                  <a:sym typeface="Canva Sans"/>
                </a:rPr>
                <a:t>CENAPRED: </a:t>
              </a:r>
              <a:r>
                <a:rPr lang="en-US" sz="2400" b="1">
                  <a:solidFill>
                    <a:srgbClr val="000000">
                      <a:alpha val="60000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reportes diarios </a:t>
              </a:r>
              <a:r>
                <a:rPr lang="en-US" sz="2400">
                  <a:solidFill>
                    <a:srgbClr val="000000">
                      <a:alpha val="60000"/>
                    </a:srgbClr>
                  </a:solidFill>
                  <a:latin typeface="Canva Sans"/>
                  <a:ea typeface="Canva Sans"/>
                  <a:cs typeface="Canva Sans"/>
                  <a:sym typeface="Canva Sans"/>
                </a:rPr>
                <a:t>de la actividad del volcán</a:t>
              </a:r>
            </a:p>
          </p:txBody>
        </p:sp>
      </p:grpSp>
      <p:sp>
        <p:nvSpPr>
          <p:cNvPr id="17" name="Freeform 17"/>
          <p:cNvSpPr/>
          <p:nvPr/>
        </p:nvSpPr>
        <p:spPr>
          <a:xfrm>
            <a:off x="15996505" y="5133975"/>
            <a:ext cx="391326" cy="391326"/>
          </a:xfrm>
          <a:custGeom>
            <a:avLst/>
            <a:gdLst/>
            <a:ahLst/>
            <a:cxnLst/>
            <a:rect l="l" t="t" r="r" b="b"/>
            <a:pathLst>
              <a:path w="391326" h="391326">
                <a:moveTo>
                  <a:pt x="0" y="0"/>
                </a:moveTo>
                <a:lnTo>
                  <a:pt x="391326" y="0"/>
                </a:lnTo>
                <a:lnTo>
                  <a:pt x="391326" y="391326"/>
                </a:lnTo>
                <a:lnTo>
                  <a:pt x="0" y="3913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3661888" y="895350"/>
            <a:ext cx="10964224" cy="892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00"/>
              </a:lnSpc>
            </a:pPr>
            <a:r>
              <a:rPr lang="en-US" sz="5000" b="1" spc="270">
                <a:solidFill>
                  <a:srgbClr val="242258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Muchas imágenes disponibles</a:t>
            </a:r>
          </a:p>
        </p:txBody>
      </p:sp>
      <p:sp>
        <p:nvSpPr>
          <p:cNvPr id="19" name="AutoShape 19"/>
          <p:cNvSpPr/>
          <p:nvPr/>
        </p:nvSpPr>
        <p:spPr>
          <a:xfrm flipH="1">
            <a:off x="2789290" y="4736916"/>
            <a:ext cx="2418367" cy="794117"/>
          </a:xfrm>
          <a:prstGeom prst="line">
            <a:avLst/>
          </a:prstGeom>
          <a:ln w="38100" cap="flat">
            <a:solidFill>
              <a:srgbClr val="FFDE59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20" name="AutoShape 20"/>
          <p:cNvSpPr/>
          <p:nvPr/>
        </p:nvSpPr>
        <p:spPr>
          <a:xfrm>
            <a:off x="5207657" y="4736916"/>
            <a:ext cx="2431297" cy="794117"/>
          </a:xfrm>
          <a:prstGeom prst="line">
            <a:avLst/>
          </a:prstGeom>
          <a:ln w="38100" cap="flat">
            <a:solidFill>
              <a:srgbClr val="FFDE59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21" name="TextBox 21"/>
          <p:cNvSpPr txBox="1"/>
          <p:nvPr/>
        </p:nvSpPr>
        <p:spPr>
          <a:xfrm>
            <a:off x="12439356" y="2700432"/>
            <a:ext cx="3724395" cy="732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59"/>
              </a:lnSpc>
            </a:pPr>
            <a:r>
              <a:rPr lang="en-US" sz="4327">
                <a:solidFill>
                  <a:srgbClr val="242258"/>
                </a:solidFill>
                <a:latin typeface="Open Sans"/>
                <a:ea typeface="Open Sans"/>
                <a:cs typeface="Open Sans"/>
                <a:sym typeface="Open Sans"/>
              </a:rPr>
              <a:t>Sin embargo...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335285" y="8613456"/>
            <a:ext cx="12057115" cy="6448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216"/>
              </a:lnSpc>
              <a:spcBef>
                <a:spcPct val="0"/>
              </a:spcBef>
            </a:pPr>
            <a:r>
              <a:rPr lang="en-US" sz="3725" dirty="0" err="1">
                <a:solidFill>
                  <a:srgbClr val="242258"/>
                </a:solidFill>
                <a:latin typeface="Canva Sans"/>
                <a:ea typeface="Canva Sans"/>
                <a:cs typeface="Canva Sans"/>
                <a:sym typeface="Canva Sans"/>
              </a:rPr>
              <a:t>Donde</a:t>
            </a:r>
            <a:r>
              <a:rPr lang="en-US" sz="3725" dirty="0">
                <a:solidFill>
                  <a:srgbClr val="242258"/>
                </a:solidFill>
                <a:latin typeface="Canva Sans"/>
                <a:ea typeface="Canva Sans"/>
                <a:cs typeface="Canva Sans"/>
                <a:sym typeface="Canva Sans"/>
              </a:rPr>
              <a:t> hay </a:t>
            </a:r>
            <a:r>
              <a:rPr lang="en-US" sz="3725" dirty="0" err="1">
                <a:solidFill>
                  <a:srgbClr val="242258"/>
                </a:solidFill>
                <a:latin typeface="Canva Sans"/>
                <a:ea typeface="Canva Sans"/>
                <a:cs typeface="Canva Sans"/>
                <a:sym typeface="Canva Sans"/>
              </a:rPr>
              <a:t>datos</a:t>
            </a:r>
            <a:r>
              <a:rPr lang="en-US" sz="3725" dirty="0">
                <a:solidFill>
                  <a:srgbClr val="242258"/>
                </a:solidFill>
                <a:latin typeface="Canva Sans"/>
                <a:ea typeface="Canva Sans"/>
                <a:cs typeface="Canva Sans"/>
                <a:sym typeface="Canva Sans"/>
              </a:rPr>
              <a:t>, hay </a:t>
            </a:r>
            <a:r>
              <a:rPr lang="en-US" sz="3725" dirty="0" err="1">
                <a:solidFill>
                  <a:srgbClr val="242258"/>
                </a:solidFill>
                <a:latin typeface="Canva Sans"/>
                <a:ea typeface="Canva Sans"/>
                <a:cs typeface="Canva Sans"/>
                <a:sym typeface="Canva Sans"/>
              </a:rPr>
              <a:t>potencial</a:t>
            </a:r>
            <a:r>
              <a:rPr lang="en-US" sz="3725" dirty="0">
                <a:solidFill>
                  <a:srgbClr val="242258"/>
                </a:solidFill>
                <a:latin typeface="Canva Sans"/>
                <a:ea typeface="Canva Sans"/>
                <a:cs typeface="Canva Sans"/>
                <a:sym typeface="Canva Sans"/>
              </a:rPr>
              <a:t> de </a:t>
            </a:r>
            <a:r>
              <a:rPr lang="en-US" sz="3725" dirty="0" err="1">
                <a:solidFill>
                  <a:srgbClr val="242258"/>
                </a:solidFill>
                <a:latin typeface="Canva Sans"/>
                <a:ea typeface="Canva Sans"/>
                <a:cs typeface="Canva Sans"/>
                <a:sym typeface="Canva Sans"/>
              </a:rPr>
              <a:t>automatización</a:t>
            </a:r>
            <a:r>
              <a:rPr lang="en-US" sz="3725" dirty="0">
                <a:solidFill>
                  <a:srgbClr val="242258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1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4336" y="595944"/>
            <a:ext cx="18402336" cy="9095112"/>
            <a:chOff x="0" y="0"/>
            <a:chExt cx="4846706" cy="239542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46706" cy="2395420"/>
            </a:xfrm>
            <a:custGeom>
              <a:avLst/>
              <a:gdLst/>
              <a:ahLst/>
              <a:cxnLst/>
              <a:rect l="l" t="t" r="r" b="b"/>
              <a:pathLst>
                <a:path w="4846706" h="2395420">
                  <a:moveTo>
                    <a:pt x="0" y="0"/>
                  </a:moveTo>
                  <a:lnTo>
                    <a:pt x="4846706" y="0"/>
                  </a:lnTo>
                  <a:lnTo>
                    <a:pt x="4846706" y="2395420"/>
                  </a:lnTo>
                  <a:lnTo>
                    <a:pt x="0" y="239542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46706" cy="24335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895350"/>
            <a:ext cx="10964224" cy="892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300"/>
              </a:lnSpc>
            </a:pPr>
            <a:r>
              <a:rPr lang="en-US" sz="5000" b="1" spc="270">
                <a:solidFill>
                  <a:srgbClr val="242258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Oportunidad de automatización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028700" y="4804852"/>
            <a:ext cx="3389638" cy="2159772"/>
            <a:chOff x="0" y="0"/>
            <a:chExt cx="1171888" cy="7466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71888" cy="746690"/>
            </a:xfrm>
            <a:custGeom>
              <a:avLst/>
              <a:gdLst/>
              <a:ahLst/>
              <a:cxnLst/>
              <a:rect l="l" t="t" r="r" b="b"/>
              <a:pathLst>
                <a:path w="1171888" h="746690">
                  <a:moveTo>
                    <a:pt x="130188" y="0"/>
                  </a:moveTo>
                  <a:lnTo>
                    <a:pt x="1041700" y="0"/>
                  </a:lnTo>
                  <a:cubicBezTo>
                    <a:pt x="1076228" y="0"/>
                    <a:pt x="1109342" y="13716"/>
                    <a:pt x="1133757" y="38131"/>
                  </a:cubicBezTo>
                  <a:cubicBezTo>
                    <a:pt x="1158172" y="62546"/>
                    <a:pt x="1171888" y="95660"/>
                    <a:pt x="1171888" y="130188"/>
                  </a:cubicBezTo>
                  <a:lnTo>
                    <a:pt x="1171888" y="616503"/>
                  </a:lnTo>
                  <a:cubicBezTo>
                    <a:pt x="1171888" y="651031"/>
                    <a:pt x="1158172" y="684144"/>
                    <a:pt x="1133757" y="708559"/>
                  </a:cubicBezTo>
                  <a:cubicBezTo>
                    <a:pt x="1109342" y="732974"/>
                    <a:pt x="1076228" y="746690"/>
                    <a:pt x="1041700" y="746690"/>
                  </a:cubicBezTo>
                  <a:lnTo>
                    <a:pt x="130188" y="746690"/>
                  </a:lnTo>
                  <a:cubicBezTo>
                    <a:pt x="95660" y="746690"/>
                    <a:pt x="62546" y="732974"/>
                    <a:pt x="38131" y="708559"/>
                  </a:cubicBezTo>
                  <a:cubicBezTo>
                    <a:pt x="13716" y="684144"/>
                    <a:pt x="0" y="651031"/>
                    <a:pt x="0" y="616503"/>
                  </a:cubicBezTo>
                  <a:lnTo>
                    <a:pt x="0" y="130188"/>
                  </a:lnTo>
                  <a:cubicBezTo>
                    <a:pt x="0" y="95660"/>
                    <a:pt x="13716" y="62546"/>
                    <a:pt x="38131" y="38131"/>
                  </a:cubicBezTo>
                  <a:cubicBezTo>
                    <a:pt x="62546" y="13716"/>
                    <a:pt x="95660" y="0"/>
                    <a:pt x="130188" y="0"/>
                  </a:cubicBezTo>
                  <a:close/>
                </a:path>
              </a:pathLst>
            </a:custGeom>
            <a:solidFill>
              <a:srgbClr val="FFDE59">
                <a:alpha val="60000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171888" cy="7847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9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000000">
                      <a:alpha val="60000"/>
                    </a:srgbClr>
                  </a:solidFill>
                  <a:latin typeface="Canva Sans"/>
                  <a:ea typeface="Canva Sans"/>
                  <a:cs typeface="Canva Sans"/>
                  <a:sym typeface="Canva Sans"/>
                </a:rPr>
                <a:t>6 cámaras de video en diferentes puntos alrededor del volcán.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815993" y="2459269"/>
            <a:ext cx="3389638" cy="2159772"/>
            <a:chOff x="0" y="0"/>
            <a:chExt cx="1171888" cy="74669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71888" cy="746690"/>
            </a:xfrm>
            <a:custGeom>
              <a:avLst/>
              <a:gdLst/>
              <a:ahLst/>
              <a:cxnLst/>
              <a:rect l="l" t="t" r="r" b="b"/>
              <a:pathLst>
                <a:path w="1171888" h="746690">
                  <a:moveTo>
                    <a:pt x="130188" y="0"/>
                  </a:moveTo>
                  <a:lnTo>
                    <a:pt x="1041700" y="0"/>
                  </a:lnTo>
                  <a:cubicBezTo>
                    <a:pt x="1076228" y="0"/>
                    <a:pt x="1109342" y="13716"/>
                    <a:pt x="1133757" y="38131"/>
                  </a:cubicBezTo>
                  <a:cubicBezTo>
                    <a:pt x="1158172" y="62546"/>
                    <a:pt x="1171888" y="95660"/>
                    <a:pt x="1171888" y="130188"/>
                  </a:cubicBezTo>
                  <a:lnTo>
                    <a:pt x="1171888" y="616503"/>
                  </a:lnTo>
                  <a:cubicBezTo>
                    <a:pt x="1171888" y="651031"/>
                    <a:pt x="1158172" y="684144"/>
                    <a:pt x="1133757" y="708559"/>
                  </a:cubicBezTo>
                  <a:cubicBezTo>
                    <a:pt x="1109342" y="732974"/>
                    <a:pt x="1076228" y="746690"/>
                    <a:pt x="1041700" y="746690"/>
                  </a:cubicBezTo>
                  <a:lnTo>
                    <a:pt x="130188" y="746690"/>
                  </a:lnTo>
                  <a:cubicBezTo>
                    <a:pt x="95660" y="746690"/>
                    <a:pt x="62546" y="732974"/>
                    <a:pt x="38131" y="708559"/>
                  </a:cubicBezTo>
                  <a:cubicBezTo>
                    <a:pt x="13716" y="684144"/>
                    <a:pt x="0" y="651031"/>
                    <a:pt x="0" y="616503"/>
                  </a:cubicBezTo>
                  <a:lnTo>
                    <a:pt x="0" y="130188"/>
                  </a:lnTo>
                  <a:cubicBezTo>
                    <a:pt x="0" y="95660"/>
                    <a:pt x="13716" y="62546"/>
                    <a:pt x="38131" y="38131"/>
                  </a:cubicBezTo>
                  <a:cubicBezTo>
                    <a:pt x="62546" y="13716"/>
                    <a:pt x="95660" y="0"/>
                    <a:pt x="130188" y="0"/>
                  </a:cubicBezTo>
                  <a:close/>
                </a:path>
              </a:pathLst>
            </a:custGeom>
            <a:solidFill>
              <a:srgbClr val="FFDE59">
                <a:alpha val="60000"/>
              </a:srgbClr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171888" cy="7847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99"/>
                </a:lnSpc>
                <a:spcBef>
                  <a:spcPct val="0"/>
                </a:spcBef>
              </a:pPr>
              <a:r>
                <a:rPr lang="en-US" sz="2800" dirty="0">
                  <a:solidFill>
                    <a:srgbClr val="000000">
                      <a:alpha val="60000"/>
                    </a:srgbClr>
                  </a:solidFill>
                  <a:latin typeface="Canva Sans"/>
                  <a:ea typeface="Canva Sans"/>
                  <a:cs typeface="Canva Sans"/>
                  <a:sym typeface="Canva Sans"/>
                </a:rPr>
                <a:t>Webcams de México: </a:t>
              </a:r>
              <a:r>
                <a:rPr lang="en-US" sz="2800" dirty="0" err="1">
                  <a:solidFill>
                    <a:srgbClr val="000000">
                      <a:alpha val="60000"/>
                    </a:srgbClr>
                  </a:solidFill>
                  <a:latin typeface="Canva Sans"/>
                  <a:ea typeface="Canva Sans"/>
                  <a:cs typeface="Canva Sans"/>
                  <a:sym typeface="Canva Sans"/>
                </a:rPr>
                <a:t>transmisión</a:t>
              </a:r>
              <a:r>
                <a:rPr lang="en-US" sz="2800" dirty="0">
                  <a:solidFill>
                    <a:srgbClr val="000000">
                      <a:alpha val="60000"/>
                    </a:srgbClr>
                  </a:solidFill>
                  <a:latin typeface="Canva Sans"/>
                  <a:ea typeface="Canva Sans"/>
                  <a:cs typeface="Canva Sans"/>
                  <a:sym typeface="Canva Sans"/>
                </a:rPr>
                <a:t> a </a:t>
              </a:r>
              <a:r>
                <a:rPr lang="en-US" sz="2800" dirty="0" err="1">
                  <a:solidFill>
                    <a:srgbClr val="000000">
                      <a:alpha val="60000"/>
                    </a:srgbClr>
                  </a:solidFill>
                  <a:latin typeface="Canva Sans"/>
                  <a:ea typeface="Canva Sans"/>
                  <a:cs typeface="Canva Sans"/>
                  <a:sym typeface="Canva Sans"/>
                </a:rPr>
                <a:t>través</a:t>
              </a:r>
              <a:r>
                <a:rPr lang="en-US" sz="2800" dirty="0">
                  <a:solidFill>
                    <a:srgbClr val="000000">
                      <a:alpha val="60000"/>
                    </a:srgbClr>
                  </a:solidFill>
                  <a:latin typeface="Canva Sans"/>
                  <a:ea typeface="Canva Sans"/>
                  <a:cs typeface="Canva Sans"/>
                  <a:sym typeface="Canva Sans"/>
                </a:rPr>
                <a:t> de </a:t>
              </a:r>
              <a:r>
                <a:rPr lang="en-US" sz="2800" dirty="0" err="1">
                  <a:solidFill>
                    <a:srgbClr val="000000">
                      <a:alpha val="60000"/>
                    </a:srgbClr>
                  </a:solidFill>
                  <a:latin typeface="Canva Sans"/>
                  <a:ea typeface="Canva Sans"/>
                  <a:cs typeface="Canva Sans"/>
                  <a:sym typeface="Canva Sans"/>
                </a:rPr>
                <a:t>su</a:t>
              </a:r>
              <a:r>
                <a:rPr lang="en-US" sz="2800" dirty="0">
                  <a:solidFill>
                    <a:srgbClr val="000000">
                      <a:alpha val="60000"/>
                    </a:srgbClr>
                  </a:solidFill>
                  <a:latin typeface="Canva Sans"/>
                  <a:ea typeface="Canva Sans"/>
                  <a:cs typeface="Canva Sans"/>
                  <a:sym typeface="Canva Sans"/>
                </a:rPr>
                <a:t> sitio web y </a:t>
              </a:r>
              <a:r>
                <a:rPr lang="en-US" sz="2800" b="1" dirty="0">
                  <a:solidFill>
                    <a:srgbClr val="000000">
                      <a:alpha val="60000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YouTube</a:t>
              </a:r>
              <a:r>
                <a:rPr lang="en-US" sz="2800" dirty="0">
                  <a:solidFill>
                    <a:srgbClr val="000000">
                      <a:alpha val="60000"/>
                    </a:srgbClr>
                  </a:solidFill>
                  <a:latin typeface="Canva Sans"/>
                  <a:ea typeface="Canva Sans"/>
                  <a:cs typeface="Canva Sans"/>
                  <a:sym typeface="Canva Sans"/>
                </a:rPr>
                <a:t>.</a:t>
              </a:r>
            </a:p>
          </p:txBody>
        </p:sp>
      </p:grpSp>
      <p:sp>
        <p:nvSpPr>
          <p:cNvPr id="12" name="AutoShape 12"/>
          <p:cNvSpPr/>
          <p:nvPr/>
        </p:nvSpPr>
        <p:spPr>
          <a:xfrm flipV="1">
            <a:off x="2723519" y="3539155"/>
            <a:ext cx="2092474" cy="1265697"/>
          </a:xfrm>
          <a:prstGeom prst="line">
            <a:avLst/>
          </a:prstGeom>
          <a:ln w="38100" cap="flat">
            <a:solidFill>
              <a:srgbClr val="FFDE59"/>
            </a:solidFill>
            <a:prstDash val="solid"/>
            <a:headEnd type="oval" w="lg" len="lg"/>
            <a:tailEnd type="oval" w="lg" len="lg"/>
          </a:ln>
        </p:spPr>
      </p:sp>
      <p:grpSp>
        <p:nvGrpSpPr>
          <p:cNvPr id="13" name="Group 13"/>
          <p:cNvGrpSpPr/>
          <p:nvPr/>
        </p:nvGrpSpPr>
        <p:grpSpPr>
          <a:xfrm>
            <a:off x="12420600" y="2459269"/>
            <a:ext cx="3389638" cy="2159772"/>
            <a:chOff x="0" y="0"/>
            <a:chExt cx="1171888" cy="74669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171888" cy="746690"/>
            </a:xfrm>
            <a:custGeom>
              <a:avLst/>
              <a:gdLst/>
              <a:ahLst/>
              <a:cxnLst/>
              <a:rect l="l" t="t" r="r" b="b"/>
              <a:pathLst>
                <a:path w="1171888" h="746690">
                  <a:moveTo>
                    <a:pt x="130188" y="0"/>
                  </a:moveTo>
                  <a:lnTo>
                    <a:pt x="1041700" y="0"/>
                  </a:lnTo>
                  <a:cubicBezTo>
                    <a:pt x="1076228" y="0"/>
                    <a:pt x="1109342" y="13716"/>
                    <a:pt x="1133757" y="38131"/>
                  </a:cubicBezTo>
                  <a:cubicBezTo>
                    <a:pt x="1158172" y="62546"/>
                    <a:pt x="1171888" y="95660"/>
                    <a:pt x="1171888" y="130188"/>
                  </a:cubicBezTo>
                  <a:lnTo>
                    <a:pt x="1171888" y="616503"/>
                  </a:lnTo>
                  <a:cubicBezTo>
                    <a:pt x="1171888" y="651031"/>
                    <a:pt x="1158172" y="684144"/>
                    <a:pt x="1133757" y="708559"/>
                  </a:cubicBezTo>
                  <a:cubicBezTo>
                    <a:pt x="1109342" y="732974"/>
                    <a:pt x="1076228" y="746690"/>
                    <a:pt x="1041700" y="746690"/>
                  </a:cubicBezTo>
                  <a:lnTo>
                    <a:pt x="130188" y="746690"/>
                  </a:lnTo>
                  <a:cubicBezTo>
                    <a:pt x="95660" y="746690"/>
                    <a:pt x="62546" y="732974"/>
                    <a:pt x="38131" y="708559"/>
                  </a:cubicBezTo>
                  <a:cubicBezTo>
                    <a:pt x="13716" y="684144"/>
                    <a:pt x="0" y="651031"/>
                    <a:pt x="0" y="616503"/>
                  </a:cubicBezTo>
                  <a:lnTo>
                    <a:pt x="0" y="130188"/>
                  </a:lnTo>
                  <a:cubicBezTo>
                    <a:pt x="0" y="95660"/>
                    <a:pt x="13716" y="62546"/>
                    <a:pt x="38131" y="38131"/>
                  </a:cubicBezTo>
                  <a:cubicBezTo>
                    <a:pt x="62546" y="13716"/>
                    <a:pt x="95660" y="0"/>
                    <a:pt x="130188" y="0"/>
                  </a:cubicBezTo>
                  <a:close/>
                </a:path>
              </a:pathLst>
            </a:custGeom>
            <a:solidFill>
              <a:srgbClr val="FFBD59">
                <a:alpha val="60000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171888" cy="7847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r>
                <a:rPr lang="en-US" sz="2400">
                  <a:solidFill>
                    <a:srgbClr val="000000">
                      <a:alpha val="60000"/>
                    </a:srgbClr>
                  </a:solidFill>
                  <a:latin typeface="Canva Sans"/>
                  <a:ea typeface="Canva Sans"/>
                  <a:cs typeface="Canva Sans"/>
                  <a:sym typeface="Canva Sans"/>
                </a:rPr>
                <a:t>Creación de dataset </a:t>
              </a:r>
            </a:p>
            <a:p>
              <a:pPr marL="0" lvl="0" indent="0" algn="ctr">
                <a:lnSpc>
                  <a:spcPts val="279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000000">
                      <a:alpha val="60000"/>
                    </a:srgbClr>
                  </a:solidFill>
                  <a:latin typeface="Canva Sans"/>
                  <a:ea typeface="Canva Sans"/>
                  <a:cs typeface="Canva Sans"/>
                  <a:sym typeface="Canva Sans"/>
                </a:rPr>
                <a:t>[</a:t>
              </a:r>
              <a:r>
                <a:rPr lang="en-US" sz="2400" b="1">
                  <a:solidFill>
                    <a:srgbClr val="000000">
                      <a:alpha val="60000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224,095</a:t>
              </a:r>
              <a:r>
                <a:rPr lang="en-US" sz="2400">
                  <a:solidFill>
                    <a:srgbClr val="000000">
                      <a:alpha val="60000"/>
                    </a:srgbClr>
                  </a:solidFill>
                  <a:latin typeface="Canva Sans"/>
                  <a:ea typeface="Canva Sans"/>
                  <a:cs typeface="Canva Sans"/>
                  <a:sym typeface="Canva Sans"/>
                </a:rPr>
                <a:t> imágenes]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815993" y="6964624"/>
            <a:ext cx="3521179" cy="2243586"/>
            <a:chOff x="0" y="0"/>
            <a:chExt cx="1171888" cy="74669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171888" cy="746690"/>
            </a:xfrm>
            <a:custGeom>
              <a:avLst/>
              <a:gdLst/>
              <a:ahLst/>
              <a:cxnLst/>
              <a:rect l="l" t="t" r="r" b="b"/>
              <a:pathLst>
                <a:path w="1171888" h="746690">
                  <a:moveTo>
                    <a:pt x="125324" y="0"/>
                  </a:moveTo>
                  <a:lnTo>
                    <a:pt x="1046563" y="0"/>
                  </a:lnTo>
                  <a:cubicBezTo>
                    <a:pt x="1079802" y="0"/>
                    <a:pt x="1111678" y="13204"/>
                    <a:pt x="1135181" y="36707"/>
                  </a:cubicBezTo>
                  <a:cubicBezTo>
                    <a:pt x="1158684" y="60210"/>
                    <a:pt x="1171888" y="92086"/>
                    <a:pt x="1171888" y="125324"/>
                  </a:cubicBezTo>
                  <a:lnTo>
                    <a:pt x="1171888" y="621366"/>
                  </a:lnTo>
                  <a:cubicBezTo>
                    <a:pt x="1171888" y="654604"/>
                    <a:pt x="1158684" y="686481"/>
                    <a:pt x="1135181" y="709984"/>
                  </a:cubicBezTo>
                  <a:cubicBezTo>
                    <a:pt x="1111678" y="733487"/>
                    <a:pt x="1079802" y="746690"/>
                    <a:pt x="1046563" y="746690"/>
                  </a:cubicBezTo>
                  <a:lnTo>
                    <a:pt x="125324" y="746690"/>
                  </a:lnTo>
                  <a:cubicBezTo>
                    <a:pt x="92086" y="746690"/>
                    <a:pt x="60210" y="733487"/>
                    <a:pt x="36707" y="709984"/>
                  </a:cubicBezTo>
                  <a:cubicBezTo>
                    <a:pt x="13204" y="686481"/>
                    <a:pt x="0" y="654604"/>
                    <a:pt x="0" y="621366"/>
                  </a:cubicBezTo>
                  <a:lnTo>
                    <a:pt x="0" y="125324"/>
                  </a:lnTo>
                  <a:cubicBezTo>
                    <a:pt x="0" y="92086"/>
                    <a:pt x="13204" y="60210"/>
                    <a:pt x="36707" y="36707"/>
                  </a:cubicBezTo>
                  <a:cubicBezTo>
                    <a:pt x="60210" y="13204"/>
                    <a:pt x="92086" y="0"/>
                    <a:pt x="125324" y="0"/>
                  </a:cubicBezTo>
                  <a:close/>
                </a:path>
              </a:pathLst>
            </a:custGeom>
            <a:solidFill>
              <a:srgbClr val="FFDE59">
                <a:alpha val="60000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1171888" cy="7847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9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000000">
                      <a:alpha val="60000"/>
                    </a:srgbClr>
                  </a:solidFill>
                  <a:latin typeface="Canva Sans"/>
                  <a:ea typeface="Canva Sans"/>
                  <a:cs typeface="Canva Sans"/>
                  <a:sym typeface="Canva Sans"/>
                </a:rPr>
                <a:t>CENAPRED: reportes diarios de la actividad del volcán</a:t>
              </a:r>
            </a:p>
          </p:txBody>
        </p:sp>
      </p:grpSp>
      <p:sp>
        <p:nvSpPr>
          <p:cNvPr id="19" name="AutoShape 19"/>
          <p:cNvSpPr/>
          <p:nvPr/>
        </p:nvSpPr>
        <p:spPr>
          <a:xfrm>
            <a:off x="2723519" y="6964624"/>
            <a:ext cx="2092474" cy="1121793"/>
          </a:xfrm>
          <a:prstGeom prst="line">
            <a:avLst/>
          </a:prstGeom>
          <a:ln w="38100" cap="flat">
            <a:solidFill>
              <a:srgbClr val="FFDE59"/>
            </a:solidFill>
            <a:prstDash val="solid"/>
            <a:headEnd type="oval" w="lg" len="lg"/>
            <a:tailEnd type="oval" w="lg" len="lg"/>
          </a:ln>
        </p:spPr>
      </p:sp>
      <p:grpSp>
        <p:nvGrpSpPr>
          <p:cNvPr id="20" name="Group 20"/>
          <p:cNvGrpSpPr/>
          <p:nvPr/>
        </p:nvGrpSpPr>
        <p:grpSpPr>
          <a:xfrm>
            <a:off x="12590448" y="7098528"/>
            <a:ext cx="3389638" cy="2159772"/>
            <a:chOff x="0" y="0"/>
            <a:chExt cx="1171888" cy="74669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171888" cy="746690"/>
            </a:xfrm>
            <a:custGeom>
              <a:avLst/>
              <a:gdLst/>
              <a:ahLst/>
              <a:cxnLst/>
              <a:rect l="l" t="t" r="r" b="b"/>
              <a:pathLst>
                <a:path w="1171888" h="746690">
                  <a:moveTo>
                    <a:pt x="130188" y="0"/>
                  </a:moveTo>
                  <a:lnTo>
                    <a:pt x="1041700" y="0"/>
                  </a:lnTo>
                  <a:cubicBezTo>
                    <a:pt x="1076228" y="0"/>
                    <a:pt x="1109342" y="13716"/>
                    <a:pt x="1133757" y="38131"/>
                  </a:cubicBezTo>
                  <a:cubicBezTo>
                    <a:pt x="1158172" y="62546"/>
                    <a:pt x="1171888" y="95660"/>
                    <a:pt x="1171888" y="130188"/>
                  </a:cubicBezTo>
                  <a:lnTo>
                    <a:pt x="1171888" y="616503"/>
                  </a:lnTo>
                  <a:cubicBezTo>
                    <a:pt x="1171888" y="651031"/>
                    <a:pt x="1158172" y="684144"/>
                    <a:pt x="1133757" y="708559"/>
                  </a:cubicBezTo>
                  <a:cubicBezTo>
                    <a:pt x="1109342" y="732974"/>
                    <a:pt x="1076228" y="746690"/>
                    <a:pt x="1041700" y="746690"/>
                  </a:cubicBezTo>
                  <a:lnTo>
                    <a:pt x="130188" y="746690"/>
                  </a:lnTo>
                  <a:cubicBezTo>
                    <a:pt x="95660" y="746690"/>
                    <a:pt x="62546" y="732974"/>
                    <a:pt x="38131" y="708559"/>
                  </a:cubicBezTo>
                  <a:cubicBezTo>
                    <a:pt x="13716" y="684144"/>
                    <a:pt x="0" y="651031"/>
                    <a:pt x="0" y="616503"/>
                  </a:cubicBezTo>
                  <a:lnTo>
                    <a:pt x="0" y="130188"/>
                  </a:lnTo>
                  <a:cubicBezTo>
                    <a:pt x="0" y="95660"/>
                    <a:pt x="13716" y="62546"/>
                    <a:pt x="38131" y="38131"/>
                  </a:cubicBezTo>
                  <a:cubicBezTo>
                    <a:pt x="62546" y="13716"/>
                    <a:pt x="95660" y="0"/>
                    <a:pt x="130188" y="0"/>
                  </a:cubicBezTo>
                  <a:close/>
                </a:path>
              </a:pathLst>
            </a:custGeom>
            <a:solidFill>
              <a:srgbClr val="FFBD59">
                <a:alpha val="60000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1171888" cy="7847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r>
                <a:rPr lang="en-US" sz="2400">
                  <a:solidFill>
                    <a:srgbClr val="000000">
                      <a:alpha val="60000"/>
                    </a:srgbClr>
                  </a:solidFill>
                  <a:latin typeface="Canva Sans"/>
                  <a:ea typeface="Canva Sans"/>
                  <a:cs typeface="Canva Sans"/>
                  <a:sym typeface="Canva Sans"/>
                </a:rPr>
                <a:t>Creación de dataset </a:t>
              </a:r>
            </a:p>
            <a:p>
              <a:pPr marL="0" lvl="0" indent="0" algn="ctr">
                <a:lnSpc>
                  <a:spcPts val="279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000000">
                      <a:alpha val="60000"/>
                    </a:srgbClr>
                  </a:solidFill>
                  <a:latin typeface="Canva Sans"/>
                  <a:ea typeface="Canva Sans"/>
                  <a:cs typeface="Canva Sans"/>
                  <a:sym typeface="Canva Sans"/>
                </a:rPr>
                <a:t>[</a:t>
              </a:r>
              <a:r>
                <a:rPr lang="en-US" sz="2400" b="1">
                  <a:solidFill>
                    <a:srgbClr val="000000">
                      <a:alpha val="60000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16,336</a:t>
              </a:r>
              <a:r>
                <a:rPr lang="en-US" sz="2400">
                  <a:solidFill>
                    <a:srgbClr val="000000">
                      <a:alpha val="60000"/>
                    </a:srgbClr>
                  </a:solidFill>
                  <a:latin typeface="Canva Sans"/>
                  <a:ea typeface="Canva Sans"/>
                  <a:cs typeface="Canva Sans"/>
                  <a:sym typeface="Canva Sans"/>
                </a:rPr>
                <a:t> imágenes]</a:t>
              </a:r>
            </a:p>
          </p:txBody>
        </p:sp>
      </p:grpSp>
      <p:sp>
        <p:nvSpPr>
          <p:cNvPr id="23" name="AutoShape 23"/>
          <p:cNvSpPr/>
          <p:nvPr/>
        </p:nvSpPr>
        <p:spPr>
          <a:xfrm>
            <a:off x="8205631" y="3539155"/>
            <a:ext cx="4214969" cy="0"/>
          </a:xfrm>
          <a:prstGeom prst="line">
            <a:avLst/>
          </a:prstGeom>
          <a:ln w="38100" cap="flat">
            <a:solidFill>
              <a:srgbClr val="FFDE59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24" name="AutoShape 24"/>
          <p:cNvSpPr/>
          <p:nvPr/>
        </p:nvSpPr>
        <p:spPr>
          <a:xfrm>
            <a:off x="8337172" y="8086417"/>
            <a:ext cx="4253276" cy="76893"/>
          </a:xfrm>
          <a:prstGeom prst="line">
            <a:avLst/>
          </a:prstGeom>
          <a:ln w="38100" cap="flat">
            <a:solidFill>
              <a:srgbClr val="FFDE59"/>
            </a:solidFill>
            <a:prstDash val="sysDash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1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4336" y="595944"/>
            <a:ext cx="18402336" cy="9095112"/>
            <a:chOff x="0" y="0"/>
            <a:chExt cx="4846706" cy="239542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46706" cy="2395420"/>
            </a:xfrm>
            <a:custGeom>
              <a:avLst/>
              <a:gdLst/>
              <a:ahLst/>
              <a:cxnLst/>
              <a:rect l="l" t="t" r="r" b="b"/>
              <a:pathLst>
                <a:path w="4846706" h="2395420">
                  <a:moveTo>
                    <a:pt x="0" y="0"/>
                  </a:moveTo>
                  <a:lnTo>
                    <a:pt x="4846706" y="0"/>
                  </a:lnTo>
                  <a:lnTo>
                    <a:pt x="4846706" y="2395420"/>
                  </a:lnTo>
                  <a:lnTo>
                    <a:pt x="0" y="239542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46706" cy="24335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088474" y="2942993"/>
            <a:ext cx="3574136" cy="1451305"/>
            <a:chOff x="0" y="0"/>
            <a:chExt cx="762755" cy="30972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62755" cy="309722"/>
            </a:xfrm>
            <a:custGeom>
              <a:avLst/>
              <a:gdLst/>
              <a:ahLst/>
              <a:cxnLst/>
              <a:rect l="l" t="t" r="r" b="b"/>
              <a:pathLst>
                <a:path w="762755" h="309722">
                  <a:moveTo>
                    <a:pt x="559555" y="0"/>
                  </a:moveTo>
                  <a:cubicBezTo>
                    <a:pt x="671779" y="0"/>
                    <a:pt x="762755" y="69334"/>
                    <a:pt x="762755" y="154861"/>
                  </a:cubicBezTo>
                  <a:cubicBezTo>
                    <a:pt x="762755" y="240389"/>
                    <a:pt x="671779" y="309722"/>
                    <a:pt x="559555" y="309722"/>
                  </a:cubicBezTo>
                  <a:lnTo>
                    <a:pt x="203200" y="309722"/>
                  </a:lnTo>
                  <a:cubicBezTo>
                    <a:pt x="90976" y="309722"/>
                    <a:pt x="0" y="240389"/>
                    <a:pt x="0" y="154861"/>
                  </a:cubicBezTo>
                  <a:cubicBezTo>
                    <a:pt x="0" y="69334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95250"/>
              <a:ext cx="762755" cy="404972"/>
            </a:xfrm>
            <a:prstGeom prst="rect">
              <a:avLst/>
            </a:prstGeom>
          </p:spPr>
          <p:txBody>
            <a:bodyPr wrap="none" lIns="50800" tIns="324000" rIns="50800" bIns="50800" rtlCol="0" anchor="ctr"/>
            <a:lstStyle/>
            <a:p>
              <a:pPr algn="ctr">
                <a:lnSpc>
                  <a:spcPts val="6999"/>
                </a:lnSpc>
              </a:pPr>
              <a:r>
                <a:rPr lang="en-US" sz="4999" dirty="0">
                  <a:solidFill>
                    <a:srgbClr val="242258"/>
                  </a:solidFill>
                  <a:latin typeface="Canva Sans"/>
                  <a:ea typeface="Canva Sans"/>
                  <a:cs typeface="Canva Sans"/>
                  <a:sym typeface="Canva Sans"/>
                </a:rPr>
                <a:t>4 </a:t>
              </a:r>
              <a:r>
                <a:rPr lang="en-US" sz="4999" dirty="0" err="1">
                  <a:solidFill>
                    <a:srgbClr val="242258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clases</a:t>
              </a:r>
              <a:endParaRPr lang="en-US" sz="4999" dirty="0">
                <a:solidFill>
                  <a:srgbClr val="242258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</p:txBody>
        </p:sp>
      </p:grpSp>
      <p:sp>
        <p:nvSpPr>
          <p:cNvPr id="8" name="Freeform 8"/>
          <p:cNvSpPr/>
          <p:nvPr/>
        </p:nvSpPr>
        <p:spPr>
          <a:xfrm>
            <a:off x="8169600" y="5790046"/>
            <a:ext cx="4268126" cy="3201095"/>
          </a:xfrm>
          <a:custGeom>
            <a:avLst/>
            <a:gdLst/>
            <a:ahLst/>
            <a:cxnLst/>
            <a:rect l="l" t="t" r="r" b="b"/>
            <a:pathLst>
              <a:path w="4268126" h="3201095">
                <a:moveTo>
                  <a:pt x="0" y="0"/>
                </a:moveTo>
                <a:lnTo>
                  <a:pt x="4268126" y="0"/>
                </a:lnTo>
                <a:lnTo>
                  <a:pt x="4268126" y="3201094"/>
                </a:lnTo>
                <a:lnTo>
                  <a:pt x="0" y="32010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2991174" y="5790046"/>
            <a:ext cx="4268126" cy="3201095"/>
          </a:xfrm>
          <a:custGeom>
            <a:avLst/>
            <a:gdLst/>
            <a:ahLst/>
            <a:cxnLst/>
            <a:rect l="l" t="t" r="r" b="b"/>
            <a:pathLst>
              <a:path w="4268126" h="3201095">
                <a:moveTo>
                  <a:pt x="0" y="0"/>
                </a:moveTo>
                <a:lnTo>
                  <a:pt x="4268126" y="0"/>
                </a:lnTo>
                <a:lnTo>
                  <a:pt x="4268126" y="3201094"/>
                </a:lnTo>
                <a:lnTo>
                  <a:pt x="0" y="32010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8169600" y="2256286"/>
            <a:ext cx="4268126" cy="3201095"/>
          </a:xfrm>
          <a:custGeom>
            <a:avLst/>
            <a:gdLst/>
            <a:ahLst/>
            <a:cxnLst/>
            <a:rect l="l" t="t" r="r" b="b"/>
            <a:pathLst>
              <a:path w="4268126" h="3201095">
                <a:moveTo>
                  <a:pt x="0" y="0"/>
                </a:moveTo>
                <a:lnTo>
                  <a:pt x="4268126" y="0"/>
                </a:lnTo>
                <a:lnTo>
                  <a:pt x="4268126" y="3201094"/>
                </a:lnTo>
                <a:lnTo>
                  <a:pt x="0" y="32010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2991174" y="2256286"/>
            <a:ext cx="4268126" cy="3201095"/>
          </a:xfrm>
          <a:custGeom>
            <a:avLst/>
            <a:gdLst/>
            <a:ahLst/>
            <a:cxnLst/>
            <a:rect l="l" t="t" r="r" b="b"/>
            <a:pathLst>
              <a:path w="4268126" h="3201095">
                <a:moveTo>
                  <a:pt x="0" y="0"/>
                </a:moveTo>
                <a:lnTo>
                  <a:pt x="4268126" y="0"/>
                </a:lnTo>
                <a:lnTo>
                  <a:pt x="4268126" y="3201094"/>
                </a:lnTo>
                <a:lnTo>
                  <a:pt x="0" y="32010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971532" y="895350"/>
            <a:ext cx="16230600" cy="923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591"/>
              </a:lnSpc>
            </a:pPr>
            <a:r>
              <a:rPr lang="en-US" sz="5199" b="1" spc="280">
                <a:solidFill>
                  <a:srgbClr val="242258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Simplificación visual de la actividad superficial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67770" y="5076825"/>
            <a:ext cx="5215544" cy="2691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30723" lvl="1" indent="-415361" algn="l">
              <a:lnSpc>
                <a:spcPts val="5386"/>
              </a:lnSpc>
              <a:buAutoNum type="arabicPeriod"/>
            </a:pPr>
            <a:r>
              <a:rPr lang="en-US" sz="3847">
                <a:solidFill>
                  <a:srgbClr val="242258"/>
                </a:solidFill>
                <a:latin typeface="Open Sans"/>
                <a:ea typeface="Open Sans"/>
                <a:cs typeface="Open Sans"/>
                <a:sym typeface="Open Sans"/>
              </a:rPr>
              <a:t> Emisión de ceniza</a:t>
            </a:r>
          </a:p>
          <a:p>
            <a:pPr marL="830723" lvl="1" indent="-415361" algn="l">
              <a:lnSpc>
                <a:spcPts val="5386"/>
              </a:lnSpc>
              <a:buAutoNum type="arabicPeriod"/>
            </a:pPr>
            <a:r>
              <a:rPr lang="en-US" sz="3847">
                <a:solidFill>
                  <a:srgbClr val="242258"/>
                </a:solidFill>
                <a:latin typeface="Open Sans"/>
                <a:ea typeface="Open Sans"/>
                <a:cs typeface="Open Sans"/>
                <a:sym typeface="Open Sans"/>
              </a:rPr>
              <a:t> Emisión de vapor</a:t>
            </a:r>
          </a:p>
          <a:p>
            <a:pPr marL="830723" lvl="1" indent="-415361" algn="l">
              <a:lnSpc>
                <a:spcPts val="5386"/>
              </a:lnSpc>
              <a:buAutoNum type="arabicPeriod"/>
            </a:pPr>
            <a:r>
              <a:rPr lang="en-US" sz="3847">
                <a:solidFill>
                  <a:srgbClr val="242258"/>
                </a:solidFill>
                <a:latin typeface="Open Sans"/>
                <a:ea typeface="Open Sans"/>
                <a:cs typeface="Open Sans"/>
                <a:sym typeface="Open Sans"/>
              </a:rPr>
              <a:t> Sin emisión</a:t>
            </a:r>
          </a:p>
          <a:p>
            <a:pPr marL="830723" lvl="1" indent="-415361" algn="l">
              <a:lnSpc>
                <a:spcPts val="5386"/>
              </a:lnSpc>
              <a:buAutoNum type="arabicPeriod"/>
            </a:pPr>
            <a:r>
              <a:rPr lang="en-US" sz="3847">
                <a:solidFill>
                  <a:srgbClr val="242258"/>
                </a:solidFill>
                <a:latin typeface="Open Sans"/>
                <a:ea typeface="Open Sans"/>
                <a:cs typeface="Open Sans"/>
                <a:sym typeface="Open Sans"/>
              </a:rPr>
              <a:t> No visible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1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4336" y="595944"/>
            <a:ext cx="18402336" cy="9095112"/>
            <a:chOff x="0" y="0"/>
            <a:chExt cx="4846706" cy="239542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46706" cy="2395420"/>
            </a:xfrm>
            <a:custGeom>
              <a:avLst/>
              <a:gdLst/>
              <a:ahLst/>
              <a:cxnLst/>
              <a:rect l="l" t="t" r="r" b="b"/>
              <a:pathLst>
                <a:path w="4846706" h="2395420">
                  <a:moveTo>
                    <a:pt x="0" y="0"/>
                  </a:moveTo>
                  <a:lnTo>
                    <a:pt x="4846706" y="0"/>
                  </a:lnTo>
                  <a:lnTo>
                    <a:pt x="4846706" y="2395420"/>
                  </a:lnTo>
                  <a:lnTo>
                    <a:pt x="0" y="239542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46706" cy="24335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aphicFrame>
        <p:nvGraphicFramePr>
          <p:cNvPr id="5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8616623"/>
              </p:ext>
            </p:extLst>
          </p:nvPr>
        </p:nvGraphicFramePr>
        <p:xfrm>
          <a:off x="1028700" y="3535034"/>
          <a:ext cx="6979058" cy="2690148"/>
        </p:xfrm>
        <a:graphic>
          <a:graphicData uri="http://schemas.openxmlformats.org/drawingml/2006/table">
            <a:tbl>
              <a:tblPr/>
              <a:tblGrid>
                <a:gridCol w="34895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895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96716">
                <a:tc>
                  <a:txBody>
                    <a:bodyPr/>
                    <a:lstStyle/>
                    <a:p>
                      <a:pPr algn="ctr">
                        <a:lnSpc>
                          <a:spcPts val="2612"/>
                        </a:lnSpc>
                        <a:defRPr/>
                      </a:pPr>
                      <a:r>
                        <a:rPr lang="en-US" sz="2400" b="1" dirty="0" err="1">
                          <a:solidFill>
                            <a:srgbClr val="252158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Obtención</a:t>
                      </a:r>
                      <a:r>
                        <a:rPr lang="en-US" sz="2400" b="1" dirty="0">
                          <a:solidFill>
                            <a:srgbClr val="252158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de </a:t>
                      </a:r>
                      <a:r>
                        <a:rPr lang="en-US" sz="2400" b="1" dirty="0" err="1">
                          <a:solidFill>
                            <a:srgbClr val="252158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datos</a:t>
                      </a:r>
                      <a:endParaRPr lang="en-US" sz="1400" dirty="0"/>
                    </a:p>
                  </a:txBody>
                  <a:tcPr marL="187106" marR="187106" marT="187106" marB="187106" anchor="ctr">
                    <a:lnL w="374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74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74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74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12"/>
                        </a:lnSpc>
                        <a:defRPr/>
                      </a:pPr>
                      <a:r>
                        <a:rPr lang="en-US" sz="2400" b="1">
                          <a:solidFill>
                            <a:srgbClr val="252158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Etiquetado de datos</a:t>
                      </a:r>
                      <a:endParaRPr lang="en-US" sz="1400"/>
                    </a:p>
                  </a:txBody>
                  <a:tcPr marL="187106" marR="187106" marT="187106" marB="187106" anchor="ctr">
                    <a:lnL w="374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74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74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74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6716">
                <a:tc>
                  <a:txBody>
                    <a:bodyPr/>
                    <a:lstStyle/>
                    <a:p>
                      <a:pPr algn="ctr">
                        <a:lnSpc>
                          <a:spcPts val="2612"/>
                        </a:lnSpc>
                        <a:defRPr/>
                      </a:pPr>
                      <a:r>
                        <a:rPr lang="en-US" sz="2400" b="1" dirty="0" err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yt-dlp</a:t>
                      </a: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</a:t>
                      </a:r>
                      <a:r>
                        <a:rPr lang="en-US" sz="2400" dirty="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y</a:t>
                      </a: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</a:t>
                      </a:r>
                      <a:r>
                        <a:rPr lang="en-US" sz="2400" b="1" dirty="0" err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ffmpeg</a:t>
                      </a:r>
                      <a:endParaRPr lang="en-US" sz="1400" dirty="0"/>
                    </a:p>
                  </a:txBody>
                  <a:tcPr marL="187106" marR="187106" marT="187106" marB="187106" anchor="ctr">
                    <a:lnL w="374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74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74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74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12"/>
                        </a:lnSpc>
                        <a:defRPr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-</a:t>
                      </a:r>
                      <a:endParaRPr lang="en-US" sz="1400" dirty="0"/>
                    </a:p>
                  </a:txBody>
                  <a:tcPr marL="187106" marR="187106" marT="187106" marB="187106" anchor="ctr">
                    <a:lnL w="374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74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74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74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6716">
                <a:tc>
                  <a:txBody>
                    <a:bodyPr/>
                    <a:lstStyle/>
                    <a:p>
                      <a:pPr algn="ctr">
                        <a:lnSpc>
                          <a:spcPts val="2612"/>
                        </a:lnSpc>
                        <a:defRPr/>
                      </a:pPr>
                      <a:r>
                        <a:rPr lang="en-US" sz="2400" b="1" i="1">
                          <a:solidFill>
                            <a:srgbClr val="000000"/>
                          </a:solidFill>
                          <a:latin typeface="Canva Sans Bold Italics"/>
                          <a:ea typeface="Canva Sans Bold Italics"/>
                          <a:cs typeface="Canva Sans Bold Italics"/>
                          <a:sym typeface="Canva Sans Bold Italics"/>
                        </a:rPr>
                        <a:t>Web Scraping</a:t>
                      </a:r>
                      <a:endParaRPr lang="en-US" sz="1400"/>
                    </a:p>
                  </a:txBody>
                  <a:tcPr marL="187106" marR="187106" marT="187106" marB="187106" anchor="ctr">
                    <a:lnL w="374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74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74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74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12"/>
                        </a:lnSpc>
                        <a:defRPr/>
                      </a:pPr>
                      <a:r>
                        <a:rPr lang="en-US" sz="2400" dirty="0" err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guizero</a:t>
                      </a:r>
                      <a:endParaRPr lang="en-US" sz="1400" dirty="0"/>
                    </a:p>
                  </a:txBody>
                  <a:tcPr marL="187106" marR="187106" marT="187106" marB="187106" anchor="ctr">
                    <a:lnL w="374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74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74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74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6" name="Group 6"/>
          <p:cNvGrpSpPr/>
          <p:nvPr/>
        </p:nvGrpSpPr>
        <p:grpSpPr>
          <a:xfrm>
            <a:off x="1028700" y="7043261"/>
            <a:ext cx="4915490" cy="1578985"/>
            <a:chOff x="0" y="0"/>
            <a:chExt cx="6553987" cy="2105313"/>
          </a:xfrm>
        </p:grpSpPr>
        <p:sp>
          <p:nvSpPr>
            <p:cNvPr id="7" name="Freeform 7"/>
            <p:cNvSpPr/>
            <p:nvPr/>
          </p:nvSpPr>
          <p:spPr>
            <a:xfrm>
              <a:off x="1791195" y="0"/>
              <a:ext cx="2971597" cy="1160057"/>
            </a:xfrm>
            <a:custGeom>
              <a:avLst/>
              <a:gdLst/>
              <a:ahLst/>
              <a:cxnLst/>
              <a:rect l="l" t="t" r="r" b="b"/>
              <a:pathLst>
                <a:path w="2971597" h="1160057">
                  <a:moveTo>
                    <a:pt x="0" y="0"/>
                  </a:moveTo>
                  <a:lnTo>
                    <a:pt x="2971597" y="0"/>
                  </a:lnTo>
                  <a:lnTo>
                    <a:pt x="2971597" y="1160057"/>
                  </a:lnTo>
                  <a:lnTo>
                    <a:pt x="0" y="11600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81478" b="-74680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1246953"/>
              <a:ext cx="6553987" cy="8583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15"/>
                </a:lnSpc>
                <a:spcBef>
                  <a:spcPct val="0"/>
                </a:spcBef>
              </a:pPr>
              <a:r>
                <a:rPr lang="en-US" sz="1867">
                  <a:solidFill>
                    <a:srgbClr val="242258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Descarga videos de YouTube y otras plataformas en diferentes formatos.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944190" y="7084556"/>
            <a:ext cx="3980180" cy="1537690"/>
            <a:chOff x="0" y="0"/>
            <a:chExt cx="5306906" cy="2050253"/>
          </a:xfrm>
        </p:grpSpPr>
        <p:sp>
          <p:nvSpPr>
            <p:cNvPr id="10" name="Freeform 10"/>
            <p:cNvSpPr/>
            <p:nvPr/>
          </p:nvSpPr>
          <p:spPr>
            <a:xfrm>
              <a:off x="623540" y="0"/>
              <a:ext cx="4059825" cy="1091078"/>
            </a:xfrm>
            <a:custGeom>
              <a:avLst/>
              <a:gdLst/>
              <a:ahLst/>
              <a:cxnLst/>
              <a:rect l="l" t="t" r="r" b="b"/>
              <a:pathLst>
                <a:path w="4059825" h="1091078">
                  <a:moveTo>
                    <a:pt x="0" y="0"/>
                  </a:moveTo>
                  <a:lnTo>
                    <a:pt x="4059826" y="0"/>
                  </a:lnTo>
                  <a:lnTo>
                    <a:pt x="4059826" y="1091078"/>
                  </a:lnTo>
                  <a:lnTo>
                    <a:pt x="0" y="10910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1187499"/>
              <a:ext cx="5306906" cy="8627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242258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Permite procesar y convertir archivos de audio y video.</a:t>
              </a:r>
            </a:p>
          </p:txBody>
        </p:sp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E7218B6A-261A-4943-A512-C0DDEE5324E5}"/>
              </a:ext>
            </a:extLst>
          </p:cNvPr>
          <p:cNvGrpSpPr/>
          <p:nvPr/>
        </p:nvGrpSpPr>
        <p:grpSpPr>
          <a:xfrm>
            <a:off x="10280244" y="3133606"/>
            <a:ext cx="2658535" cy="2550490"/>
            <a:chOff x="9456714" y="2329618"/>
            <a:chExt cx="2658535" cy="2550490"/>
          </a:xfrm>
        </p:grpSpPr>
        <p:sp>
          <p:nvSpPr>
            <p:cNvPr id="12" name="Freeform 12"/>
            <p:cNvSpPr/>
            <p:nvPr/>
          </p:nvSpPr>
          <p:spPr>
            <a:xfrm>
              <a:off x="9932139" y="2329618"/>
              <a:ext cx="1525652" cy="1525652"/>
            </a:xfrm>
            <a:custGeom>
              <a:avLst/>
              <a:gdLst/>
              <a:ahLst/>
              <a:cxnLst/>
              <a:rect l="l" t="t" r="r" b="b"/>
              <a:pathLst>
                <a:path w="1525652" h="1525652">
                  <a:moveTo>
                    <a:pt x="0" y="0"/>
                  </a:moveTo>
                  <a:lnTo>
                    <a:pt x="1525652" y="0"/>
                  </a:lnTo>
                  <a:lnTo>
                    <a:pt x="1525652" y="1525652"/>
                  </a:lnTo>
                  <a:lnTo>
                    <a:pt x="0" y="15256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>
              <a:off x="9456714" y="3736938"/>
              <a:ext cx="2658535" cy="1143170"/>
            </a:xfrm>
            <a:custGeom>
              <a:avLst/>
              <a:gdLst/>
              <a:ahLst/>
              <a:cxnLst/>
              <a:rect l="l" t="t" r="r" b="b"/>
              <a:pathLst>
                <a:path w="2658535" h="1143170">
                  <a:moveTo>
                    <a:pt x="0" y="0"/>
                  </a:moveTo>
                  <a:lnTo>
                    <a:pt x="2658534" y="0"/>
                  </a:lnTo>
                  <a:lnTo>
                    <a:pt x="2658534" y="1143170"/>
                  </a:lnTo>
                  <a:lnTo>
                    <a:pt x="0" y="11431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sp>
        <p:nvSpPr>
          <p:cNvPr id="14" name="TextBox 14"/>
          <p:cNvSpPr txBox="1"/>
          <p:nvPr/>
        </p:nvSpPr>
        <p:spPr>
          <a:xfrm>
            <a:off x="1028700" y="895350"/>
            <a:ext cx="10964224" cy="892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300"/>
              </a:lnSpc>
            </a:pPr>
            <a:r>
              <a:rPr lang="en-US" sz="5000" b="1" spc="270">
                <a:solidFill>
                  <a:srgbClr val="242258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Fundamentos y herramientas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900852" y="2536766"/>
            <a:ext cx="5234755" cy="643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362"/>
              </a:lnSpc>
            </a:pPr>
            <a:r>
              <a:rPr lang="en-US" sz="3672" b="1" spc="198">
                <a:solidFill>
                  <a:srgbClr val="242258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Creación de datasets</a:t>
            </a:r>
          </a:p>
        </p:txBody>
      </p:sp>
      <p:pic>
        <p:nvPicPr>
          <p:cNvPr id="3074" name="Picture 2" descr="Primeros pasos con Python: ¡Hola, mundo! - blog.vermiip.es">
            <a:extLst>
              <a:ext uri="{FF2B5EF4-FFF2-40B4-BE49-F238E27FC236}">
                <a16:creationId xmlns:a16="http://schemas.microsoft.com/office/drawing/2014/main" id="{5B2A6235-9CE3-45DD-9E2E-F7D18BAD22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21714" y="2117800"/>
            <a:ext cx="5617279" cy="3159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pandas (software) - Wikipedia">
            <a:extLst>
              <a:ext uri="{FF2B5EF4-FFF2-40B4-BE49-F238E27FC236}">
                <a16:creationId xmlns:a16="http://schemas.microsoft.com/office/drawing/2014/main" id="{02E5F226-4DFF-4B6B-B35B-6ED6925F44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9000" y="6090671"/>
            <a:ext cx="3980180" cy="1611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NumPy: The Essential Library for Numerical Python That Transforms Data  Science - Locus IT Services Nordic | Your Trusted Partner for Data Science  &amp; Analytics Solutions">
            <a:extLst>
              <a:ext uri="{FF2B5EF4-FFF2-40B4-BE49-F238E27FC236}">
                <a16:creationId xmlns:a16="http://schemas.microsoft.com/office/drawing/2014/main" id="{EDB63C52-C6BA-4C39-A5B7-8BE3EFF0AF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39090" y="7624088"/>
            <a:ext cx="4990785" cy="1996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1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4336" y="595944"/>
            <a:ext cx="18402336" cy="9095112"/>
            <a:chOff x="0" y="0"/>
            <a:chExt cx="4846706" cy="239542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46706" cy="2395420"/>
            </a:xfrm>
            <a:custGeom>
              <a:avLst/>
              <a:gdLst/>
              <a:ahLst/>
              <a:cxnLst/>
              <a:rect l="l" t="t" r="r" b="b"/>
              <a:pathLst>
                <a:path w="4846706" h="2395420">
                  <a:moveTo>
                    <a:pt x="0" y="0"/>
                  </a:moveTo>
                  <a:lnTo>
                    <a:pt x="4846706" y="0"/>
                  </a:lnTo>
                  <a:lnTo>
                    <a:pt x="4846706" y="2395420"/>
                  </a:lnTo>
                  <a:lnTo>
                    <a:pt x="0" y="239542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46706" cy="24335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712351" y="2365817"/>
            <a:ext cx="1532929" cy="1203349"/>
          </a:xfrm>
          <a:custGeom>
            <a:avLst/>
            <a:gdLst/>
            <a:ahLst/>
            <a:cxnLst/>
            <a:rect l="l" t="t" r="r" b="b"/>
            <a:pathLst>
              <a:path w="1532929" h="1203349">
                <a:moveTo>
                  <a:pt x="0" y="0"/>
                </a:moveTo>
                <a:lnTo>
                  <a:pt x="1532929" y="0"/>
                </a:lnTo>
                <a:lnTo>
                  <a:pt x="1532929" y="1203349"/>
                </a:lnTo>
                <a:lnTo>
                  <a:pt x="0" y="12033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2245280" y="3799521"/>
            <a:ext cx="1397187" cy="1096792"/>
          </a:xfrm>
          <a:custGeom>
            <a:avLst/>
            <a:gdLst/>
            <a:ahLst/>
            <a:cxnLst/>
            <a:rect l="l" t="t" r="r" b="b"/>
            <a:pathLst>
              <a:path w="1397187" h="1096792">
                <a:moveTo>
                  <a:pt x="0" y="0"/>
                </a:moveTo>
                <a:lnTo>
                  <a:pt x="1397186" y="0"/>
                </a:lnTo>
                <a:lnTo>
                  <a:pt x="1397186" y="1096792"/>
                </a:lnTo>
                <a:lnTo>
                  <a:pt x="0" y="10967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082157" y="8223193"/>
            <a:ext cx="855470" cy="855470"/>
          </a:xfrm>
          <a:custGeom>
            <a:avLst/>
            <a:gdLst/>
            <a:ahLst/>
            <a:cxnLst/>
            <a:rect l="l" t="t" r="r" b="b"/>
            <a:pathLst>
              <a:path w="855470" h="855470">
                <a:moveTo>
                  <a:pt x="0" y="0"/>
                </a:moveTo>
                <a:lnTo>
                  <a:pt x="855470" y="0"/>
                </a:lnTo>
                <a:lnTo>
                  <a:pt x="855470" y="855470"/>
                </a:lnTo>
                <a:lnTo>
                  <a:pt x="0" y="8554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028700" y="895350"/>
            <a:ext cx="13336206" cy="892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300"/>
              </a:lnSpc>
            </a:pPr>
            <a:r>
              <a:rPr lang="en-US" sz="5000" b="1" spc="270">
                <a:solidFill>
                  <a:srgbClr val="242258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Creación de dataset de frames de video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6877" y="2851966"/>
            <a:ext cx="8934336" cy="2187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73367" lvl="1" indent="-336683" algn="l">
              <a:lnSpc>
                <a:spcPts val="4366"/>
              </a:lnSpc>
              <a:buAutoNum type="arabicPeriod"/>
            </a:pPr>
            <a:r>
              <a:rPr lang="en-US" sz="3118">
                <a:solidFill>
                  <a:srgbClr val="242258"/>
                </a:solidFill>
                <a:latin typeface="Open Sans"/>
                <a:ea typeface="Open Sans"/>
                <a:cs typeface="Open Sans"/>
                <a:sym typeface="Open Sans"/>
              </a:rPr>
              <a:t>Descargar el video en formato</a:t>
            </a:r>
            <a:r>
              <a:rPr lang="en-US" sz="3118">
                <a:solidFill>
                  <a:srgbClr val="FF751F"/>
                </a:solidFill>
                <a:latin typeface="Open Sans"/>
                <a:ea typeface="Open Sans"/>
                <a:cs typeface="Open Sans"/>
                <a:sym typeface="Open Sans"/>
              </a:rPr>
              <a:t> .mp4</a:t>
            </a:r>
            <a:r>
              <a:rPr lang="en-US" sz="3118">
                <a:solidFill>
                  <a:srgbClr val="FF313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118">
                <a:solidFill>
                  <a:srgbClr val="242258"/>
                </a:solidFill>
                <a:latin typeface="Open Sans"/>
                <a:ea typeface="Open Sans"/>
                <a:cs typeface="Open Sans"/>
                <a:sym typeface="Open Sans"/>
              </a:rPr>
              <a:t>usando </a:t>
            </a:r>
            <a:r>
              <a:rPr lang="en-US" sz="3118" b="1">
                <a:solidFill>
                  <a:srgbClr val="24225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yt-dlp</a:t>
            </a:r>
          </a:p>
          <a:p>
            <a:pPr marL="673367" lvl="1" indent="-336683" algn="l">
              <a:lnSpc>
                <a:spcPts val="4366"/>
              </a:lnSpc>
              <a:buAutoNum type="arabicPeriod"/>
            </a:pPr>
            <a:r>
              <a:rPr lang="en-US" sz="3118">
                <a:solidFill>
                  <a:srgbClr val="242258"/>
                </a:solidFill>
                <a:latin typeface="Open Sans"/>
                <a:ea typeface="Open Sans"/>
                <a:cs typeface="Open Sans"/>
                <a:sym typeface="Open Sans"/>
              </a:rPr>
              <a:t>Extraer frames (uno por segundo) usando </a:t>
            </a:r>
            <a:r>
              <a:rPr lang="en-US" sz="3118" b="1">
                <a:solidFill>
                  <a:srgbClr val="24225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ffmpeg</a:t>
            </a:r>
            <a:r>
              <a:rPr lang="en-US" sz="3118">
                <a:solidFill>
                  <a:srgbClr val="242258"/>
                </a:solidFill>
                <a:latin typeface="Open Sans"/>
                <a:ea typeface="Open Sans"/>
                <a:cs typeface="Open Sans"/>
                <a:sym typeface="Open Sans"/>
              </a:rPr>
              <a:t>, cada imagen se guarda en </a:t>
            </a:r>
            <a:r>
              <a:rPr lang="en-US" sz="3118">
                <a:solidFill>
                  <a:srgbClr val="FF751F"/>
                </a:solidFill>
                <a:latin typeface="Open Sans"/>
                <a:ea typeface="Open Sans"/>
                <a:cs typeface="Open Sans"/>
                <a:sym typeface="Open Sans"/>
              </a:rPr>
              <a:t>.jpg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814317" y="7143369"/>
            <a:ext cx="6899456" cy="10175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05"/>
              </a:lnSpc>
            </a:pPr>
            <a:r>
              <a:rPr lang="en-US" sz="2932">
                <a:solidFill>
                  <a:srgbClr val="FF751F"/>
                </a:solidFill>
                <a:latin typeface="Open Sans"/>
                <a:ea typeface="Open Sans"/>
                <a:cs typeface="Open Sans"/>
                <a:sym typeface="Open Sans"/>
              </a:rPr>
              <a:t>Los datos se etiquetan manualmente según la categoría correcta.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978568" y="3540591"/>
            <a:ext cx="920547" cy="258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17"/>
              </a:lnSpc>
            </a:pPr>
            <a:r>
              <a:rPr lang="en-US" sz="1512" b="1">
                <a:solidFill>
                  <a:srgbClr val="24225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imágenes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577054" y="4882311"/>
            <a:ext cx="660771" cy="238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30"/>
              </a:lnSpc>
            </a:pPr>
            <a:r>
              <a:rPr lang="en-US" sz="1378" b="1">
                <a:solidFill>
                  <a:srgbClr val="24225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video_#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3861097" y="5120843"/>
            <a:ext cx="1297592" cy="1227134"/>
            <a:chOff x="0" y="0"/>
            <a:chExt cx="1730122" cy="163617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730122" cy="1358146"/>
            </a:xfrm>
            <a:custGeom>
              <a:avLst/>
              <a:gdLst/>
              <a:ahLst/>
              <a:cxnLst/>
              <a:rect l="l" t="t" r="r" b="b"/>
              <a:pathLst>
                <a:path w="1730122" h="1358146">
                  <a:moveTo>
                    <a:pt x="0" y="0"/>
                  </a:moveTo>
                  <a:lnTo>
                    <a:pt x="1730122" y="0"/>
                  </a:lnTo>
                  <a:lnTo>
                    <a:pt x="1730122" y="1358146"/>
                  </a:lnTo>
                  <a:lnTo>
                    <a:pt x="0" y="13581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477468" y="1347617"/>
              <a:ext cx="684955" cy="2885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92"/>
                </a:lnSpc>
              </a:pPr>
              <a:r>
                <a:rPr lang="en-US" sz="1280" b="1">
                  <a:solidFill>
                    <a:srgbClr val="24225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ceniza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3861097" y="6661837"/>
            <a:ext cx="1297592" cy="1266081"/>
            <a:chOff x="0" y="0"/>
            <a:chExt cx="1730122" cy="168810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730122" cy="1358146"/>
            </a:xfrm>
            <a:custGeom>
              <a:avLst/>
              <a:gdLst/>
              <a:ahLst/>
              <a:cxnLst/>
              <a:rect l="l" t="t" r="r" b="b"/>
              <a:pathLst>
                <a:path w="1730122" h="1358146">
                  <a:moveTo>
                    <a:pt x="0" y="0"/>
                  </a:moveTo>
                  <a:lnTo>
                    <a:pt x="1730122" y="0"/>
                  </a:lnTo>
                  <a:lnTo>
                    <a:pt x="1730122" y="1358146"/>
                  </a:lnTo>
                  <a:lnTo>
                    <a:pt x="0" y="13581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334682" y="1399546"/>
              <a:ext cx="1060758" cy="2885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92"/>
                </a:lnSpc>
              </a:pPr>
              <a:r>
                <a:rPr lang="en-US" sz="1280" b="1">
                  <a:solidFill>
                    <a:srgbClr val="24225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no_visible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4356698" y="6405127"/>
            <a:ext cx="306389" cy="266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0"/>
              </a:lnSpc>
            </a:pPr>
            <a:r>
              <a:rPr lang="en-US" sz="1280" b="1">
                <a:solidFill>
                  <a:srgbClr val="24225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.</a:t>
            </a:r>
          </a:p>
          <a:p>
            <a:pPr algn="ctr">
              <a:lnSpc>
                <a:spcPts val="640"/>
              </a:lnSpc>
            </a:pPr>
            <a:r>
              <a:rPr lang="en-US" sz="1280" b="1">
                <a:solidFill>
                  <a:srgbClr val="24225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.</a:t>
            </a:r>
          </a:p>
          <a:p>
            <a:pPr algn="ctr">
              <a:lnSpc>
                <a:spcPts val="640"/>
              </a:lnSpc>
            </a:pPr>
            <a:r>
              <a:rPr lang="en-US" sz="1280" b="1">
                <a:solidFill>
                  <a:srgbClr val="24225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1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4336" y="595944"/>
            <a:ext cx="18402336" cy="9095112"/>
            <a:chOff x="0" y="0"/>
            <a:chExt cx="4846706" cy="239542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46706" cy="2395420"/>
            </a:xfrm>
            <a:custGeom>
              <a:avLst/>
              <a:gdLst/>
              <a:ahLst/>
              <a:cxnLst/>
              <a:rect l="l" t="t" r="r" b="b"/>
              <a:pathLst>
                <a:path w="4846706" h="2395420">
                  <a:moveTo>
                    <a:pt x="0" y="0"/>
                  </a:moveTo>
                  <a:lnTo>
                    <a:pt x="4846706" y="0"/>
                  </a:lnTo>
                  <a:lnTo>
                    <a:pt x="4846706" y="2395420"/>
                  </a:lnTo>
                  <a:lnTo>
                    <a:pt x="0" y="239542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46706" cy="24335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895350"/>
            <a:ext cx="14823252" cy="892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300"/>
              </a:lnSpc>
            </a:pPr>
            <a:r>
              <a:rPr lang="en-US" sz="5000" b="1" spc="270">
                <a:solidFill>
                  <a:srgbClr val="242258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Creación de dataset de reportes CENAPRED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505608" y="2655728"/>
            <a:ext cx="3372504" cy="6753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28"/>
              </a:lnSpc>
            </a:pPr>
            <a:r>
              <a:rPr lang="en-US" sz="3948">
                <a:solidFill>
                  <a:srgbClr val="242258"/>
                </a:solidFill>
                <a:latin typeface="Open Sans"/>
                <a:ea typeface="Open Sans"/>
                <a:cs typeface="Open Sans"/>
                <a:sym typeface="Open Sans"/>
              </a:rPr>
              <a:t>Web Scraping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3870994"/>
            <a:ext cx="9535482" cy="49177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8071" lvl="1" indent="-269036" algn="l">
              <a:lnSpc>
                <a:spcPts val="3489"/>
              </a:lnSpc>
              <a:buAutoNum type="arabicPeriod"/>
            </a:pPr>
            <a:r>
              <a:rPr lang="en-US" sz="280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Conectarse</a:t>
            </a:r>
            <a:r>
              <a:rPr lang="en-US" sz="28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con la </a:t>
            </a:r>
            <a:r>
              <a:rPr lang="en-US" sz="280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página</a:t>
            </a:r>
            <a:r>
              <a:rPr lang="en-US" sz="28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de los </a:t>
            </a:r>
            <a:r>
              <a:rPr lang="en-US" sz="280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reportes</a:t>
            </a:r>
            <a:r>
              <a:rPr lang="en-US" sz="28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de CENAPRED.</a:t>
            </a:r>
          </a:p>
          <a:p>
            <a:pPr marL="538071" lvl="1" indent="-269036" algn="l">
              <a:lnSpc>
                <a:spcPts val="3489"/>
              </a:lnSpc>
              <a:buAutoNum type="arabicPeriod"/>
            </a:pPr>
            <a:r>
              <a:rPr lang="en-US" sz="280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Extraer</a:t>
            </a:r>
            <a:r>
              <a:rPr lang="en-US" sz="28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las </a:t>
            </a:r>
            <a:r>
              <a:rPr lang="en-US" sz="280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imágenes</a:t>
            </a:r>
            <a:endParaRPr lang="en-US" sz="28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1076143" lvl="2" indent="-358714" algn="l">
              <a:lnSpc>
                <a:spcPts val="3489"/>
              </a:lnSpc>
              <a:buFont typeface="Arial"/>
              <a:buChar char="⚬"/>
            </a:pPr>
            <a:r>
              <a:rPr lang="en-US" sz="280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Identificar</a:t>
            </a:r>
            <a:r>
              <a:rPr lang="en-US" sz="28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las </a:t>
            </a:r>
            <a:r>
              <a:rPr lang="en-US" sz="280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etiquetas</a:t>
            </a:r>
            <a:r>
              <a:rPr lang="en-US" sz="28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&lt;</a:t>
            </a:r>
            <a:r>
              <a:rPr lang="en-US" sz="280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img</a:t>
            </a:r>
            <a:r>
              <a:rPr lang="en-US" sz="28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&gt; de </a:t>
            </a:r>
            <a:r>
              <a:rPr lang="en-US" sz="280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cada</a:t>
            </a:r>
            <a:r>
              <a:rPr lang="en-US" sz="28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página</a:t>
            </a:r>
            <a:r>
              <a:rPr lang="en-US" sz="28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y </a:t>
            </a:r>
            <a:r>
              <a:rPr lang="en-US" sz="280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obtener</a:t>
            </a:r>
            <a:r>
              <a:rPr lang="en-US" sz="28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la </a:t>
            </a:r>
            <a:r>
              <a:rPr lang="en-US" sz="280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dirección</a:t>
            </a:r>
            <a:r>
              <a:rPr lang="en-US" sz="28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(URL) de </a:t>
            </a:r>
            <a:r>
              <a:rPr lang="en-US" sz="280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cada</a:t>
            </a:r>
            <a:r>
              <a:rPr lang="en-US" sz="28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imagen.</a:t>
            </a:r>
          </a:p>
          <a:p>
            <a:pPr marL="538071" lvl="1" indent="-269036" algn="l">
              <a:lnSpc>
                <a:spcPts val="3489"/>
              </a:lnSpc>
              <a:buAutoNum type="arabicPeriod"/>
            </a:pPr>
            <a:r>
              <a:rPr lang="en-US" sz="280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Limpiar</a:t>
            </a:r>
            <a:r>
              <a:rPr lang="en-US" sz="28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las </a:t>
            </a:r>
            <a:r>
              <a:rPr lang="en-US" sz="280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direcciones</a:t>
            </a:r>
            <a:endParaRPr lang="en-US" sz="28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1076143" lvl="2" indent="-358714" algn="l">
              <a:lnSpc>
                <a:spcPts val="3489"/>
              </a:lnSpc>
              <a:buFont typeface="Arial"/>
              <a:buChar char="⚬"/>
            </a:pPr>
            <a:r>
              <a:rPr lang="en-US" sz="280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Eliminar</a:t>
            </a:r>
            <a:r>
              <a:rPr lang="en-US" sz="28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comillas</a:t>
            </a:r>
            <a:r>
              <a:rPr lang="en-US" sz="28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o </a:t>
            </a:r>
            <a:r>
              <a:rPr lang="en-US" sz="280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caracteres</a:t>
            </a:r>
            <a:r>
              <a:rPr lang="en-US" sz="28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extra para </a:t>
            </a:r>
            <a:r>
              <a:rPr lang="en-US" sz="280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dejar</a:t>
            </a:r>
            <a:r>
              <a:rPr lang="en-US" sz="28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los URLs </a:t>
            </a:r>
            <a:r>
              <a:rPr lang="en-US" sz="280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listos</a:t>
            </a:r>
            <a:r>
              <a:rPr lang="en-US" sz="28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para </a:t>
            </a:r>
            <a:r>
              <a:rPr lang="en-US" sz="280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descargar</a:t>
            </a:r>
            <a:r>
              <a:rPr lang="en-US" sz="28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  <a:p>
            <a:pPr marL="538071" lvl="1" indent="-269036" algn="l">
              <a:lnSpc>
                <a:spcPts val="3489"/>
              </a:lnSpc>
              <a:buAutoNum type="arabicPeriod"/>
            </a:pPr>
            <a:r>
              <a:rPr lang="en-US" sz="280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Descargar</a:t>
            </a:r>
            <a:r>
              <a:rPr lang="en-US" sz="28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las </a:t>
            </a:r>
            <a:r>
              <a:rPr lang="en-US" sz="280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imágenes</a:t>
            </a:r>
            <a:r>
              <a:rPr lang="en-US" sz="28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</a:t>
            </a:r>
          </a:p>
          <a:p>
            <a:pPr marL="1076143" lvl="2" indent="-358714" algn="l">
              <a:lnSpc>
                <a:spcPts val="3489"/>
              </a:lnSpc>
              <a:buFont typeface="Arial"/>
              <a:buChar char="⚬"/>
            </a:pPr>
            <a:r>
              <a:rPr lang="en-US" sz="280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Cada</a:t>
            </a:r>
            <a:r>
              <a:rPr lang="en-US" sz="28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imagen se </a:t>
            </a:r>
            <a:r>
              <a:rPr lang="en-US" sz="280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guarda</a:t>
            </a:r>
            <a:r>
              <a:rPr lang="en-US" sz="28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en</a:t>
            </a:r>
            <a:r>
              <a:rPr lang="en-US" sz="28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una </a:t>
            </a:r>
            <a:r>
              <a:rPr lang="en-US" sz="280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carpeta</a:t>
            </a:r>
            <a:r>
              <a:rPr lang="en-US" sz="28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local [</a:t>
            </a:r>
            <a:r>
              <a:rPr lang="en-US" sz="280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año</a:t>
            </a:r>
            <a:r>
              <a:rPr lang="en-US" sz="28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/</a:t>
            </a:r>
            <a:r>
              <a:rPr lang="en-US" sz="280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mes</a:t>
            </a:r>
            <a:r>
              <a:rPr lang="en-US" sz="28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/nombre_imagen.jpg]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152A48-2026-4368-A5BB-B896A743DF21}"/>
              </a:ext>
            </a:extLst>
          </p:cNvPr>
          <p:cNvSpPr txBox="1"/>
          <p:nvPr/>
        </p:nvSpPr>
        <p:spPr>
          <a:xfrm>
            <a:off x="12202841" y="4838700"/>
            <a:ext cx="4180159" cy="31203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105"/>
              </a:lnSpc>
            </a:pPr>
            <a:r>
              <a:rPr lang="en-US" sz="2932" dirty="0">
                <a:solidFill>
                  <a:srgbClr val="FF751F"/>
                </a:solidFill>
                <a:latin typeface="Open Sans"/>
                <a:ea typeface="Open Sans"/>
                <a:cs typeface="Open Sans"/>
                <a:sym typeface="Open Sans"/>
              </a:rPr>
              <a:t>Los </a:t>
            </a:r>
            <a:r>
              <a:rPr lang="en-US" sz="2932" dirty="0" err="1">
                <a:solidFill>
                  <a:srgbClr val="FF751F"/>
                </a:solidFill>
                <a:latin typeface="Open Sans"/>
                <a:ea typeface="Open Sans"/>
                <a:cs typeface="Open Sans"/>
                <a:sym typeface="Open Sans"/>
              </a:rPr>
              <a:t>datos</a:t>
            </a:r>
            <a:r>
              <a:rPr lang="en-US" sz="2932" dirty="0">
                <a:solidFill>
                  <a:srgbClr val="FF751F"/>
                </a:solidFill>
                <a:latin typeface="Open Sans"/>
                <a:ea typeface="Open Sans"/>
                <a:cs typeface="Open Sans"/>
                <a:sym typeface="Open Sans"/>
              </a:rPr>
              <a:t> se </a:t>
            </a:r>
            <a:r>
              <a:rPr lang="en-US" sz="2932" dirty="0" err="1">
                <a:solidFill>
                  <a:srgbClr val="FF751F"/>
                </a:solidFill>
                <a:latin typeface="Open Sans"/>
                <a:ea typeface="Open Sans"/>
                <a:cs typeface="Open Sans"/>
                <a:sym typeface="Open Sans"/>
              </a:rPr>
              <a:t>etiquetan</a:t>
            </a:r>
            <a:r>
              <a:rPr lang="en-US" sz="2932" dirty="0">
                <a:solidFill>
                  <a:srgbClr val="FF751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932" dirty="0" err="1">
                <a:solidFill>
                  <a:srgbClr val="FF751F"/>
                </a:solidFill>
                <a:latin typeface="Open Sans"/>
                <a:ea typeface="Open Sans"/>
                <a:cs typeface="Open Sans"/>
                <a:sym typeface="Open Sans"/>
              </a:rPr>
              <a:t>manualmente</a:t>
            </a:r>
            <a:r>
              <a:rPr lang="en-US" sz="2932" dirty="0">
                <a:solidFill>
                  <a:srgbClr val="FF751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932" dirty="0" err="1">
                <a:solidFill>
                  <a:srgbClr val="FF751F"/>
                </a:solidFill>
                <a:latin typeface="Open Sans"/>
                <a:ea typeface="Open Sans"/>
                <a:cs typeface="Open Sans"/>
                <a:sym typeface="Open Sans"/>
              </a:rPr>
              <a:t>según</a:t>
            </a:r>
            <a:r>
              <a:rPr lang="en-US" sz="2932" dirty="0">
                <a:solidFill>
                  <a:srgbClr val="FF751F"/>
                </a:solidFill>
                <a:latin typeface="Open Sans"/>
                <a:ea typeface="Open Sans"/>
                <a:cs typeface="Open Sans"/>
                <a:sym typeface="Open Sans"/>
              </a:rPr>
              <a:t> la </a:t>
            </a:r>
            <a:r>
              <a:rPr lang="en-US" sz="2932" dirty="0" err="1">
                <a:solidFill>
                  <a:srgbClr val="FF751F"/>
                </a:solidFill>
                <a:latin typeface="Open Sans"/>
                <a:ea typeface="Open Sans"/>
                <a:cs typeface="Open Sans"/>
                <a:sym typeface="Open Sans"/>
              </a:rPr>
              <a:t>categoría</a:t>
            </a:r>
            <a:r>
              <a:rPr lang="en-US" sz="2932" dirty="0">
                <a:solidFill>
                  <a:srgbClr val="FF751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932" dirty="0" err="1">
                <a:solidFill>
                  <a:srgbClr val="FF751F"/>
                </a:solidFill>
                <a:latin typeface="Open Sans"/>
                <a:ea typeface="Open Sans"/>
                <a:cs typeface="Open Sans"/>
                <a:sym typeface="Open Sans"/>
              </a:rPr>
              <a:t>correcta</a:t>
            </a:r>
            <a:r>
              <a:rPr lang="en-US" sz="2932" dirty="0">
                <a:solidFill>
                  <a:srgbClr val="FF751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932" dirty="0" err="1">
                <a:solidFill>
                  <a:srgbClr val="FF751F"/>
                </a:solidFill>
                <a:latin typeface="Open Sans"/>
                <a:ea typeface="Open Sans"/>
                <a:cs typeface="Open Sans"/>
                <a:sym typeface="Open Sans"/>
              </a:rPr>
              <a:t>mediante</a:t>
            </a:r>
            <a:r>
              <a:rPr lang="en-US" sz="2932" dirty="0">
                <a:solidFill>
                  <a:srgbClr val="FF751F"/>
                </a:solidFill>
                <a:latin typeface="Open Sans"/>
                <a:ea typeface="Open Sans"/>
                <a:cs typeface="Open Sans"/>
                <a:sym typeface="Open Sans"/>
              </a:rPr>
              <a:t> una</a:t>
            </a:r>
            <a:r>
              <a:rPr lang="en-US" sz="2932" b="1" dirty="0">
                <a:solidFill>
                  <a:srgbClr val="FF751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2932" b="1" dirty="0" err="1">
                <a:solidFill>
                  <a:srgbClr val="FF751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interfaz</a:t>
            </a:r>
            <a:r>
              <a:rPr lang="en-US" sz="2932" b="1" dirty="0">
                <a:solidFill>
                  <a:srgbClr val="FF751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2932" b="1" dirty="0" err="1">
                <a:solidFill>
                  <a:srgbClr val="FF751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gráfica</a:t>
            </a:r>
            <a:r>
              <a:rPr lang="en-US" sz="2932" dirty="0">
                <a:solidFill>
                  <a:srgbClr val="FF751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932" dirty="0" err="1">
                <a:solidFill>
                  <a:srgbClr val="FF751F"/>
                </a:solidFill>
                <a:latin typeface="Open Sans"/>
                <a:ea typeface="Open Sans"/>
                <a:cs typeface="Open Sans"/>
                <a:sym typeface="Open Sans"/>
              </a:rPr>
              <a:t>creada</a:t>
            </a:r>
            <a:r>
              <a:rPr lang="en-US" sz="2932" dirty="0">
                <a:solidFill>
                  <a:srgbClr val="FF751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932" dirty="0" err="1">
                <a:solidFill>
                  <a:srgbClr val="FF751F"/>
                </a:solidFill>
                <a:latin typeface="Open Sans"/>
                <a:ea typeface="Open Sans"/>
                <a:cs typeface="Open Sans"/>
                <a:sym typeface="Open Sans"/>
              </a:rPr>
              <a:t>usando</a:t>
            </a:r>
            <a:r>
              <a:rPr lang="en-US" sz="2932" dirty="0">
                <a:solidFill>
                  <a:srgbClr val="FF751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932" b="1" dirty="0" err="1">
                <a:solidFill>
                  <a:srgbClr val="FF751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Guizero</a:t>
            </a:r>
            <a:r>
              <a:rPr lang="en-US" sz="2932" dirty="0">
                <a:solidFill>
                  <a:srgbClr val="FF751F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1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4336" y="595944"/>
            <a:ext cx="18402336" cy="9095112"/>
            <a:chOff x="0" y="0"/>
            <a:chExt cx="4846706" cy="239542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46706" cy="2395420"/>
            </a:xfrm>
            <a:custGeom>
              <a:avLst/>
              <a:gdLst/>
              <a:ahLst/>
              <a:cxnLst/>
              <a:rect l="l" t="t" r="r" b="b"/>
              <a:pathLst>
                <a:path w="4846706" h="2395420">
                  <a:moveTo>
                    <a:pt x="0" y="0"/>
                  </a:moveTo>
                  <a:lnTo>
                    <a:pt x="4846706" y="0"/>
                  </a:lnTo>
                  <a:lnTo>
                    <a:pt x="4846706" y="2395420"/>
                  </a:lnTo>
                  <a:lnTo>
                    <a:pt x="0" y="239542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46706" cy="24335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3644261"/>
            <a:ext cx="9535482" cy="49177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8071" lvl="1" indent="-269036" algn="l">
              <a:lnSpc>
                <a:spcPts val="3489"/>
              </a:lnSpc>
              <a:buAutoNum type="arabicPeriod"/>
            </a:pPr>
            <a:r>
              <a:rPr lang="en-US" sz="28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Carga los </a:t>
            </a:r>
            <a:r>
              <a:rPr lang="en-US" sz="280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datos</a:t>
            </a:r>
            <a:endParaRPr lang="en-US" sz="28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538071" lvl="1" indent="-269036" algn="l">
              <a:lnSpc>
                <a:spcPts val="3489"/>
              </a:lnSpc>
              <a:buAutoNum type="arabicPeriod"/>
            </a:pPr>
            <a:r>
              <a:rPr lang="en-US" sz="280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Guarda</a:t>
            </a:r>
            <a:r>
              <a:rPr lang="en-US" sz="28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el</a:t>
            </a:r>
            <a:r>
              <a:rPr lang="en-US" sz="28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progreso</a:t>
            </a:r>
            <a:r>
              <a:rPr lang="en-US" sz="28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después</a:t>
            </a:r>
            <a:r>
              <a:rPr lang="en-US" sz="28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de </a:t>
            </a:r>
            <a:r>
              <a:rPr lang="en-US" sz="280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cada</a:t>
            </a:r>
            <a:r>
              <a:rPr lang="en-US" sz="28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imagen </a:t>
            </a:r>
            <a:r>
              <a:rPr lang="en-US" sz="280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etiquetada</a:t>
            </a:r>
            <a:endParaRPr lang="en-US" sz="28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538071" lvl="1" indent="-269036" algn="l">
              <a:lnSpc>
                <a:spcPts val="3489"/>
              </a:lnSpc>
              <a:buAutoNum type="arabicPeriod"/>
            </a:pPr>
            <a:r>
              <a:rPr lang="en-US" sz="280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Selecciona</a:t>
            </a:r>
            <a:r>
              <a:rPr lang="en-US" sz="28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la </a:t>
            </a:r>
            <a:r>
              <a:rPr lang="en-US" sz="280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primera</a:t>
            </a:r>
            <a:r>
              <a:rPr lang="en-US" sz="28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imagen sin </a:t>
            </a:r>
            <a:r>
              <a:rPr lang="en-US" sz="280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etiquetar</a:t>
            </a:r>
            <a:endParaRPr lang="en-US" sz="28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538071" lvl="1" indent="-269036" algn="l">
              <a:lnSpc>
                <a:spcPts val="3489"/>
              </a:lnSpc>
              <a:buAutoNum type="arabicPeriod"/>
            </a:pPr>
            <a:r>
              <a:rPr lang="en-US" sz="28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 </a:t>
            </a:r>
            <a:r>
              <a:rPr lang="en-US" sz="280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muestra</a:t>
            </a:r>
            <a:r>
              <a:rPr lang="en-US" sz="28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la imagen actual</a:t>
            </a:r>
          </a:p>
          <a:p>
            <a:pPr marL="1614214" lvl="3" indent="-403553" algn="l">
              <a:lnSpc>
                <a:spcPts val="3489"/>
              </a:lnSpc>
              <a:buAutoNum type="romanLcPeriod"/>
            </a:pPr>
            <a:r>
              <a:rPr lang="en-US" sz="28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El </a:t>
            </a:r>
            <a:r>
              <a:rPr lang="en-US" sz="280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usuario</a:t>
            </a:r>
            <a:r>
              <a:rPr lang="en-US" sz="28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escribe un </a:t>
            </a:r>
            <a:r>
              <a:rPr lang="en-US" sz="280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número</a:t>
            </a:r>
            <a:r>
              <a:rPr lang="en-US" sz="28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que </a:t>
            </a:r>
            <a:r>
              <a:rPr lang="en-US" sz="280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corresponde</a:t>
            </a:r>
            <a:r>
              <a:rPr lang="en-US" sz="28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 la </a:t>
            </a:r>
            <a:r>
              <a:rPr lang="en-US" sz="280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clase</a:t>
            </a:r>
            <a:r>
              <a:rPr lang="en-US" sz="28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correcta</a:t>
            </a:r>
            <a:r>
              <a:rPr lang="en-US" sz="28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y </a:t>
            </a:r>
            <a:r>
              <a:rPr lang="en-US" sz="280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presiona</a:t>
            </a:r>
            <a:r>
              <a:rPr lang="en-US" sz="28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Enter para </a:t>
            </a:r>
            <a:r>
              <a:rPr lang="en-US" sz="280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continuar</a:t>
            </a:r>
            <a:r>
              <a:rPr lang="en-US" sz="28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  <a:p>
            <a:pPr marL="538071" lvl="1" indent="-269036" algn="l">
              <a:lnSpc>
                <a:spcPts val="3489"/>
              </a:lnSpc>
              <a:buAutoNum type="arabicPeriod"/>
            </a:pPr>
            <a:r>
              <a:rPr lang="en-US" sz="28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Al </a:t>
            </a:r>
            <a:r>
              <a:rPr lang="en-US" sz="280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presionar</a:t>
            </a:r>
            <a:r>
              <a:rPr lang="en-US" sz="28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Enter:</a:t>
            </a:r>
          </a:p>
          <a:p>
            <a:pPr marL="1614214" lvl="3" indent="-403553" algn="l">
              <a:lnSpc>
                <a:spcPts val="3489"/>
              </a:lnSpc>
              <a:buAutoNum type="romanLcPeriod"/>
            </a:pPr>
            <a:r>
              <a:rPr lang="en-US" sz="28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 </a:t>
            </a:r>
            <a:r>
              <a:rPr lang="en-US" sz="280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guarda</a:t>
            </a:r>
            <a:r>
              <a:rPr lang="en-US" sz="28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la </a:t>
            </a:r>
            <a:r>
              <a:rPr lang="en-US" sz="280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etiqueta</a:t>
            </a:r>
            <a:endParaRPr lang="en-US" sz="28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1614214" lvl="3" indent="-403553" algn="l">
              <a:lnSpc>
                <a:spcPts val="3489"/>
              </a:lnSpc>
              <a:buAutoNum type="romanLcPeriod"/>
            </a:pPr>
            <a:r>
              <a:rPr lang="en-US" sz="28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 carga la </a:t>
            </a:r>
            <a:r>
              <a:rPr lang="en-US" sz="280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siguiente</a:t>
            </a:r>
            <a:r>
              <a:rPr lang="en-US" sz="28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imagen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1418432" y="3205656"/>
            <a:ext cx="6056126" cy="5464707"/>
            <a:chOff x="0" y="0"/>
            <a:chExt cx="8074834" cy="728627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074834" cy="7286276"/>
            </a:xfrm>
            <a:custGeom>
              <a:avLst/>
              <a:gdLst/>
              <a:ahLst/>
              <a:cxnLst/>
              <a:rect l="l" t="t" r="r" b="b"/>
              <a:pathLst>
                <a:path w="8074834" h="7286276">
                  <a:moveTo>
                    <a:pt x="0" y="0"/>
                  </a:moveTo>
                  <a:lnTo>
                    <a:pt x="8074834" y="0"/>
                  </a:lnTo>
                  <a:lnTo>
                    <a:pt x="8074834" y="7286276"/>
                  </a:lnTo>
                  <a:lnTo>
                    <a:pt x="0" y="72862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grpSp>
          <p:nvGrpSpPr>
            <p:cNvPr id="8" name="Group 8"/>
            <p:cNvGrpSpPr/>
            <p:nvPr/>
          </p:nvGrpSpPr>
          <p:grpSpPr>
            <a:xfrm>
              <a:off x="3698289" y="6337453"/>
              <a:ext cx="867485" cy="610452"/>
              <a:chOff x="0" y="0"/>
              <a:chExt cx="171355" cy="120583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171355" cy="120583"/>
              </a:xfrm>
              <a:custGeom>
                <a:avLst/>
                <a:gdLst/>
                <a:ahLst/>
                <a:cxnLst/>
                <a:rect l="l" t="t" r="r" b="b"/>
                <a:pathLst>
                  <a:path w="171355" h="120583">
                    <a:moveTo>
                      <a:pt x="0" y="0"/>
                    </a:moveTo>
                    <a:lnTo>
                      <a:pt x="171355" y="0"/>
                    </a:lnTo>
                    <a:lnTo>
                      <a:pt x="171355" y="120583"/>
                    </a:lnTo>
                    <a:lnTo>
                      <a:pt x="0" y="120583"/>
                    </a:lnTo>
                    <a:close/>
                  </a:path>
                </a:pathLst>
              </a:custGeom>
              <a:solidFill>
                <a:srgbClr val="FBFBFB"/>
              </a:soli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0"/>
                <a:ext cx="171355" cy="12058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just">
                  <a:lnSpc>
                    <a:spcPts val="699"/>
                  </a:lnSpc>
                </a:pPr>
                <a:r>
                  <a:rPr lang="en-US" sz="499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[1]=No emisión</a:t>
                </a:r>
              </a:p>
              <a:p>
                <a:pPr algn="just">
                  <a:lnSpc>
                    <a:spcPts val="699"/>
                  </a:lnSpc>
                </a:pPr>
                <a:r>
                  <a:rPr lang="en-US" sz="499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[2]=Ceniza</a:t>
                </a:r>
              </a:p>
              <a:p>
                <a:pPr algn="just">
                  <a:lnSpc>
                    <a:spcPts val="699"/>
                  </a:lnSpc>
                </a:pPr>
                <a:r>
                  <a:rPr lang="en-US" sz="499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[3]=Vapor</a:t>
                </a:r>
              </a:p>
              <a:p>
                <a:pPr algn="just">
                  <a:lnSpc>
                    <a:spcPts val="699"/>
                  </a:lnSpc>
                </a:pPr>
                <a:r>
                  <a:rPr lang="en-US" sz="499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[4]=No visible</a:t>
                </a:r>
              </a:p>
            </p:txBody>
          </p:sp>
        </p:grpSp>
      </p:grpSp>
      <p:sp>
        <p:nvSpPr>
          <p:cNvPr id="11" name="TextBox 11"/>
          <p:cNvSpPr txBox="1"/>
          <p:nvPr/>
        </p:nvSpPr>
        <p:spPr>
          <a:xfrm>
            <a:off x="1028700" y="895350"/>
            <a:ext cx="14823252" cy="892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300"/>
              </a:lnSpc>
            </a:pPr>
            <a:r>
              <a:rPr lang="en-US" sz="5000" b="1" spc="270">
                <a:solidFill>
                  <a:srgbClr val="242258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Creación de dataset de reportes CENAPRED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573173" y="2530299"/>
            <a:ext cx="6513659" cy="671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28"/>
              </a:lnSpc>
            </a:pPr>
            <a:r>
              <a:rPr lang="en-US" sz="3948">
                <a:solidFill>
                  <a:srgbClr val="242258"/>
                </a:solidFill>
                <a:latin typeface="Open Sans"/>
                <a:ea typeface="Open Sans"/>
                <a:cs typeface="Open Sans"/>
                <a:sym typeface="Open Sans"/>
              </a:rPr>
              <a:t>Interfaz gráfica con </a:t>
            </a:r>
            <a:r>
              <a:rPr lang="en-US" sz="3948" b="1">
                <a:solidFill>
                  <a:srgbClr val="FFBD5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guizero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1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2">
            <a:extLst>
              <a:ext uri="{FF2B5EF4-FFF2-40B4-BE49-F238E27FC236}">
                <a16:creationId xmlns:a16="http://schemas.microsoft.com/office/drawing/2014/main" id="{8E8777A2-5F54-4C26-B12C-A7C8DB4F0B5D}"/>
              </a:ext>
            </a:extLst>
          </p:cNvPr>
          <p:cNvGrpSpPr/>
          <p:nvPr/>
        </p:nvGrpSpPr>
        <p:grpSpPr>
          <a:xfrm>
            <a:off x="-114336" y="595944"/>
            <a:ext cx="18402336" cy="9095112"/>
            <a:chOff x="0" y="0"/>
            <a:chExt cx="4846706" cy="2395421"/>
          </a:xfrm>
        </p:grpSpPr>
        <p:sp>
          <p:nvSpPr>
            <p:cNvPr id="10" name="Freeform 3">
              <a:extLst>
                <a:ext uri="{FF2B5EF4-FFF2-40B4-BE49-F238E27FC236}">
                  <a16:creationId xmlns:a16="http://schemas.microsoft.com/office/drawing/2014/main" id="{B9E46EB2-D29D-4A78-9692-0263A8A23FDC}"/>
                </a:ext>
              </a:extLst>
            </p:cNvPr>
            <p:cNvSpPr/>
            <p:nvPr/>
          </p:nvSpPr>
          <p:spPr>
            <a:xfrm>
              <a:off x="0" y="0"/>
              <a:ext cx="4846706" cy="2395420"/>
            </a:xfrm>
            <a:custGeom>
              <a:avLst/>
              <a:gdLst/>
              <a:ahLst/>
              <a:cxnLst/>
              <a:rect l="l" t="t" r="r" b="b"/>
              <a:pathLst>
                <a:path w="4846706" h="2395420">
                  <a:moveTo>
                    <a:pt x="0" y="0"/>
                  </a:moveTo>
                  <a:lnTo>
                    <a:pt x="4846706" y="0"/>
                  </a:lnTo>
                  <a:lnTo>
                    <a:pt x="4846706" y="2395420"/>
                  </a:lnTo>
                  <a:lnTo>
                    <a:pt x="0" y="239542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id="11" name="TextBox 4">
              <a:extLst>
                <a:ext uri="{FF2B5EF4-FFF2-40B4-BE49-F238E27FC236}">
                  <a16:creationId xmlns:a16="http://schemas.microsoft.com/office/drawing/2014/main" id="{02EAE962-8488-49E6-B6E0-A95070AB0737}"/>
                </a:ext>
              </a:extLst>
            </p:cNvPr>
            <p:cNvSpPr txBox="1"/>
            <p:nvPr/>
          </p:nvSpPr>
          <p:spPr>
            <a:xfrm>
              <a:off x="0" y="-38100"/>
              <a:ext cx="4846706" cy="24335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aphicFrame>
        <p:nvGraphicFramePr>
          <p:cNvPr id="12" name="Diagrama 11">
            <a:extLst>
              <a:ext uri="{FF2B5EF4-FFF2-40B4-BE49-F238E27FC236}">
                <a16:creationId xmlns:a16="http://schemas.microsoft.com/office/drawing/2014/main" id="{E954F1FE-4200-4313-B5B6-49C3C47A6BE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69103287"/>
              </p:ext>
            </p:extLst>
          </p:nvPr>
        </p:nvGraphicFramePr>
        <p:xfrm>
          <a:off x="4419600" y="2629839"/>
          <a:ext cx="9448800" cy="60181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3" name="TextBox 5">
            <a:extLst>
              <a:ext uri="{FF2B5EF4-FFF2-40B4-BE49-F238E27FC236}">
                <a16:creationId xmlns:a16="http://schemas.microsoft.com/office/drawing/2014/main" id="{528B5E18-78B7-4A49-B146-5CC60BE89C7C}"/>
              </a:ext>
            </a:extLst>
          </p:cNvPr>
          <p:cNvSpPr txBox="1"/>
          <p:nvPr/>
        </p:nvSpPr>
        <p:spPr>
          <a:xfrm>
            <a:off x="1943100" y="1028700"/>
            <a:ext cx="3771900" cy="8921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7300"/>
              </a:lnSpc>
            </a:pPr>
            <a:r>
              <a:rPr lang="en-US" sz="5000" b="1" spc="270" dirty="0" err="1">
                <a:solidFill>
                  <a:srgbClr val="242258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Resultados</a:t>
            </a:r>
            <a:endParaRPr lang="en-US" sz="5000" b="1" spc="270" dirty="0">
              <a:solidFill>
                <a:srgbClr val="242258"/>
              </a:solidFill>
              <a:latin typeface="Red Hat Display Bold"/>
              <a:ea typeface="Red Hat Display Bold"/>
              <a:cs typeface="Red Hat Display Bold"/>
              <a:sym typeface="Red Hat Display Bold"/>
            </a:endParaRPr>
          </a:p>
        </p:txBody>
      </p:sp>
    </p:spTree>
    <p:extLst>
      <p:ext uri="{BB962C8B-B14F-4D97-AF65-F5344CB8AC3E}">
        <p14:creationId xmlns:p14="http://schemas.microsoft.com/office/powerpoint/2010/main" val="21702762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1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2">
            <a:extLst>
              <a:ext uri="{FF2B5EF4-FFF2-40B4-BE49-F238E27FC236}">
                <a16:creationId xmlns:a16="http://schemas.microsoft.com/office/drawing/2014/main" id="{8E8777A2-5F54-4C26-B12C-A7C8DB4F0B5D}"/>
              </a:ext>
            </a:extLst>
          </p:cNvPr>
          <p:cNvGrpSpPr/>
          <p:nvPr/>
        </p:nvGrpSpPr>
        <p:grpSpPr>
          <a:xfrm>
            <a:off x="-114336" y="595944"/>
            <a:ext cx="18402336" cy="9095112"/>
            <a:chOff x="0" y="0"/>
            <a:chExt cx="4846706" cy="2395421"/>
          </a:xfrm>
        </p:grpSpPr>
        <p:sp>
          <p:nvSpPr>
            <p:cNvPr id="10" name="Freeform 3">
              <a:extLst>
                <a:ext uri="{FF2B5EF4-FFF2-40B4-BE49-F238E27FC236}">
                  <a16:creationId xmlns:a16="http://schemas.microsoft.com/office/drawing/2014/main" id="{B9E46EB2-D29D-4A78-9692-0263A8A23FDC}"/>
                </a:ext>
              </a:extLst>
            </p:cNvPr>
            <p:cNvSpPr/>
            <p:nvPr/>
          </p:nvSpPr>
          <p:spPr>
            <a:xfrm>
              <a:off x="0" y="0"/>
              <a:ext cx="4846706" cy="2395420"/>
            </a:xfrm>
            <a:custGeom>
              <a:avLst/>
              <a:gdLst/>
              <a:ahLst/>
              <a:cxnLst/>
              <a:rect l="l" t="t" r="r" b="b"/>
              <a:pathLst>
                <a:path w="4846706" h="2395420">
                  <a:moveTo>
                    <a:pt x="0" y="0"/>
                  </a:moveTo>
                  <a:lnTo>
                    <a:pt x="4846706" y="0"/>
                  </a:lnTo>
                  <a:lnTo>
                    <a:pt x="4846706" y="2395420"/>
                  </a:lnTo>
                  <a:lnTo>
                    <a:pt x="0" y="239542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id="11" name="TextBox 4">
              <a:extLst>
                <a:ext uri="{FF2B5EF4-FFF2-40B4-BE49-F238E27FC236}">
                  <a16:creationId xmlns:a16="http://schemas.microsoft.com/office/drawing/2014/main" id="{02EAE962-8488-49E6-B6E0-A95070AB0737}"/>
                </a:ext>
              </a:extLst>
            </p:cNvPr>
            <p:cNvSpPr txBox="1"/>
            <p:nvPr/>
          </p:nvSpPr>
          <p:spPr>
            <a:xfrm>
              <a:off x="0" y="-38100"/>
              <a:ext cx="4846706" cy="24335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TextBox 5">
            <a:extLst>
              <a:ext uri="{FF2B5EF4-FFF2-40B4-BE49-F238E27FC236}">
                <a16:creationId xmlns:a16="http://schemas.microsoft.com/office/drawing/2014/main" id="{528B5E18-78B7-4A49-B146-5CC60BE89C7C}"/>
              </a:ext>
            </a:extLst>
          </p:cNvPr>
          <p:cNvSpPr txBox="1"/>
          <p:nvPr/>
        </p:nvSpPr>
        <p:spPr>
          <a:xfrm>
            <a:off x="1943100" y="1028700"/>
            <a:ext cx="8115300" cy="8794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7300"/>
              </a:lnSpc>
            </a:pPr>
            <a:r>
              <a:rPr lang="en-US" sz="5000" b="1" i="1" u="sng" spc="270" dirty="0">
                <a:solidFill>
                  <a:srgbClr val="242258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MUY</a:t>
            </a:r>
            <a:r>
              <a:rPr lang="en-US" sz="5000" b="1" spc="270" dirty="0">
                <a:solidFill>
                  <a:srgbClr val="242258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buenos </a:t>
            </a:r>
            <a:r>
              <a:rPr lang="en-US" sz="5000" b="1" spc="270" dirty="0" err="1">
                <a:solidFill>
                  <a:srgbClr val="242258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resultados</a:t>
            </a:r>
            <a:endParaRPr lang="en-US" sz="5000" b="1" spc="270" dirty="0">
              <a:solidFill>
                <a:srgbClr val="242258"/>
              </a:solidFill>
              <a:latin typeface="Red Hat Display Bold"/>
              <a:ea typeface="Red Hat Display Bold"/>
              <a:cs typeface="Red Hat Display Bold"/>
              <a:sym typeface="Red Hat Display Bold"/>
            </a:endParaRP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65B50C45-D708-436F-9C6A-42E38A878ADB}"/>
              </a:ext>
            </a:extLst>
          </p:cNvPr>
          <p:cNvGrpSpPr/>
          <p:nvPr/>
        </p:nvGrpSpPr>
        <p:grpSpPr>
          <a:xfrm>
            <a:off x="886850" y="2978738"/>
            <a:ext cx="16514300" cy="4329525"/>
            <a:chOff x="1066800" y="2331403"/>
            <a:chExt cx="16514300" cy="4329525"/>
          </a:xfrm>
        </p:grpSpPr>
        <p:pic>
          <p:nvPicPr>
            <p:cNvPr id="3" name="Imagen 2">
              <a:extLst>
                <a:ext uri="{FF2B5EF4-FFF2-40B4-BE49-F238E27FC236}">
                  <a16:creationId xmlns:a16="http://schemas.microsoft.com/office/drawing/2014/main" id="{E141BD51-9C8B-484D-851C-190CB57DBE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6800" y="2340928"/>
              <a:ext cx="5140067" cy="4320000"/>
            </a:xfrm>
            <a:prstGeom prst="rect">
              <a:avLst/>
            </a:prstGeom>
          </p:spPr>
        </p:pic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202BA781-414B-45E5-9BC7-D5114D4426C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91300" y="2340928"/>
              <a:ext cx="5409592" cy="4320000"/>
            </a:xfrm>
            <a:prstGeom prst="rect">
              <a:avLst/>
            </a:prstGeom>
          </p:spPr>
        </p:pic>
        <p:pic>
          <p:nvPicPr>
            <p:cNvPr id="7" name="Imagen 6">
              <a:extLst>
                <a:ext uri="{FF2B5EF4-FFF2-40B4-BE49-F238E27FC236}">
                  <a16:creationId xmlns:a16="http://schemas.microsoft.com/office/drawing/2014/main" id="{9E2D0B68-2D1E-4BB8-8CC3-0F78CC89149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385325" y="2331403"/>
              <a:ext cx="5195775" cy="432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520461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1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2">
            <a:extLst>
              <a:ext uri="{FF2B5EF4-FFF2-40B4-BE49-F238E27FC236}">
                <a16:creationId xmlns:a16="http://schemas.microsoft.com/office/drawing/2014/main" id="{8E8777A2-5F54-4C26-B12C-A7C8DB4F0B5D}"/>
              </a:ext>
            </a:extLst>
          </p:cNvPr>
          <p:cNvGrpSpPr/>
          <p:nvPr/>
        </p:nvGrpSpPr>
        <p:grpSpPr>
          <a:xfrm>
            <a:off x="-114336" y="595944"/>
            <a:ext cx="18402336" cy="9095112"/>
            <a:chOff x="0" y="0"/>
            <a:chExt cx="4846706" cy="2395421"/>
          </a:xfrm>
        </p:grpSpPr>
        <p:sp>
          <p:nvSpPr>
            <p:cNvPr id="10" name="Freeform 3">
              <a:extLst>
                <a:ext uri="{FF2B5EF4-FFF2-40B4-BE49-F238E27FC236}">
                  <a16:creationId xmlns:a16="http://schemas.microsoft.com/office/drawing/2014/main" id="{B9E46EB2-D29D-4A78-9692-0263A8A23FDC}"/>
                </a:ext>
              </a:extLst>
            </p:cNvPr>
            <p:cNvSpPr/>
            <p:nvPr/>
          </p:nvSpPr>
          <p:spPr>
            <a:xfrm>
              <a:off x="0" y="0"/>
              <a:ext cx="4846706" cy="2395420"/>
            </a:xfrm>
            <a:custGeom>
              <a:avLst/>
              <a:gdLst/>
              <a:ahLst/>
              <a:cxnLst/>
              <a:rect l="l" t="t" r="r" b="b"/>
              <a:pathLst>
                <a:path w="4846706" h="2395420">
                  <a:moveTo>
                    <a:pt x="0" y="0"/>
                  </a:moveTo>
                  <a:lnTo>
                    <a:pt x="4846706" y="0"/>
                  </a:lnTo>
                  <a:lnTo>
                    <a:pt x="4846706" y="2395420"/>
                  </a:lnTo>
                  <a:lnTo>
                    <a:pt x="0" y="239542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id="11" name="TextBox 4">
              <a:extLst>
                <a:ext uri="{FF2B5EF4-FFF2-40B4-BE49-F238E27FC236}">
                  <a16:creationId xmlns:a16="http://schemas.microsoft.com/office/drawing/2014/main" id="{02EAE962-8488-49E6-B6E0-A95070AB0737}"/>
                </a:ext>
              </a:extLst>
            </p:cNvPr>
            <p:cNvSpPr txBox="1"/>
            <p:nvPr/>
          </p:nvSpPr>
          <p:spPr>
            <a:xfrm>
              <a:off x="0" y="-38100"/>
              <a:ext cx="4846706" cy="24335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5">
            <a:extLst>
              <a:ext uri="{FF2B5EF4-FFF2-40B4-BE49-F238E27FC236}">
                <a16:creationId xmlns:a16="http://schemas.microsoft.com/office/drawing/2014/main" id="{C72AD935-45CE-472B-AA7D-E43FDEE6A91D}"/>
              </a:ext>
            </a:extLst>
          </p:cNvPr>
          <p:cNvSpPr txBox="1"/>
          <p:nvPr/>
        </p:nvSpPr>
        <p:spPr>
          <a:xfrm>
            <a:off x="1943100" y="1028700"/>
            <a:ext cx="10477500" cy="8794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7300"/>
              </a:lnSpc>
            </a:pPr>
            <a:r>
              <a:rPr lang="en-US" sz="5000" b="1" i="1" spc="270" dirty="0">
                <a:solidFill>
                  <a:srgbClr val="242258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MUY</a:t>
            </a:r>
            <a:r>
              <a:rPr lang="en-US" sz="5000" b="1" spc="270" dirty="0">
                <a:solidFill>
                  <a:srgbClr val="242258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buenos </a:t>
            </a:r>
            <a:r>
              <a:rPr lang="en-US" sz="5000" b="1" spc="270" dirty="0" err="1">
                <a:solidFill>
                  <a:srgbClr val="242258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resultados</a:t>
            </a:r>
            <a:r>
              <a:rPr lang="en-US" sz="5000" b="1" spc="270" dirty="0">
                <a:solidFill>
                  <a:srgbClr val="242258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   – 2 – </a:t>
            </a: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39407BDC-2466-41C6-8C99-3949CD1F0917}"/>
              </a:ext>
            </a:extLst>
          </p:cNvPr>
          <p:cNvGrpSpPr/>
          <p:nvPr/>
        </p:nvGrpSpPr>
        <p:grpSpPr>
          <a:xfrm>
            <a:off x="327388" y="2988263"/>
            <a:ext cx="17633224" cy="4320000"/>
            <a:chOff x="327388" y="2988263"/>
            <a:chExt cx="17633224" cy="4320000"/>
          </a:xfrm>
        </p:grpSpPr>
        <p:pic>
          <p:nvPicPr>
            <p:cNvPr id="14" name="Imagen 13">
              <a:extLst>
                <a:ext uri="{FF2B5EF4-FFF2-40B4-BE49-F238E27FC236}">
                  <a16:creationId xmlns:a16="http://schemas.microsoft.com/office/drawing/2014/main" id="{C3827645-BA0D-418B-8A4F-3118630C1E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7388" y="2988263"/>
              <a:ext cx="5760000" cy="4320000"/>
            </a:xfrm>
            <a:prstGeom prst="rect">
              <a:avLst/>
            </a:prstGeom>
          </p:spPr>
        </p:pic>
        <p:pic>
          <p:nvPicPr>
            <p:cNvPr id="15" name="Imagen 14">
              <a:extLst>
                <a:ext uri="{FF2B5EF4-FFF2-40B4-BE49-F238E27FC236}">
                  <a16:creationId xmlns:a16="http://schemas.microsoft.com/office/drawing/2014/main" id="{F2EE1723-C8B1-4336-81F5-6663C52AA93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64000" y="2988263"/>
              <a:ext cx="5760000" cy="4320000"/>
            </a:xfrm>
            <a:prstGeom prst="rect">
              <a:avLst/>
            </a:prstGeom>
          </p:spPr>
        </p:pic>
        <p:pic>
          <p:nvPicPr>
            <p:cNvPr id="16" name="Imagen 15">
              <a:extLst>
                <a:ext uri="{FF2B5EF4-FFF2-40B4-BE49-F238E27FC236}">
                  <a16:creationId xmlns:a16="http://schemas.microsoft.com/office/drawing/2014/main" id="{81123DFB-6E12-439D-B33A-8AF9CE72AFC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200612" y="2988263"/>
              <a:ext cx="5760000" cy="432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391137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1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2">
            <a:extLst>
              <a:ext uri="{FF2B5EF4-FFF2-40B4-BE49-F238E27FC236}">
                <a16:creationId xmlns:a16="http://schemas.microsoft.com/office/drawing/2014/main" id="{8E8777A2-5F54-4C26-B12C-A7C8DB4F0B5D}"/>
              </a:ext>
            </a:extLst>
          </p:cNvPr>
          <p:cNvGrpSpPr/>
          <p:nvPr/>
        </p:nvGrpSpPr>
        <p:grpSpPr>
          <a:xfrm>
            <a:off x="-114336" y="595944"/>
            <a:ext cx="18402336" cy="9095112"/>
            <a:chOff x="0" y="0"/>
            <a:chExt cx="4846706" cy="2395421"/>
          </a:xfrm>
        </p:grpSpPr>
        <p:sp>
          <p:nvSpPr>
            <p:cNvPr id="10" name="Freeform 3">
              <a:extLst>
                <a:ext uri="{FF2B5EF4-FFF2-40B4-BE49-F238E27FC236}">
                  <a16:creationId xmlns:a16="http://schemas.microsoft.com/office/drawing/2014/main" id="{B9E46EB2-D29D-4A78-9692-0263A8A23FDC}"/>
                </a:ext>
              </a:extLst>
            </p:cNvPr>
            <p:cNvSpPr/>
            <p:nvPr/>
          </p:nvSpPr>
          <p:spPr>
            <a:xfrm>
              <a:off x="0" y="0"/>
              <a:ext cx="4846706" cy="2395420"/>
            </a:xfrm>
            <a:custGeom>
              <a:avLst/>
              <a:gdLst/>
              <a:ahLst/>
              <a:cxnLst/>
              <a:rect l="l" t="t" r="r" b="b"/>
              <a:pathLst>
                <a:path w="4846706" h="2395420">
                  <a:moveTo>
                    <a:pt x="0" y="0"/>
                  </a:moveTo>
                  <a:lnTo>
                    <a:pt x="4846706" y="0"/>
                  </a:lnTo>
                  <a:lnTo>
                    <a:pt x="4846706" y="2395420"/>
                  </a:lnTo>
                  <a:lnTo>
                    <a:pt x="0" y="239542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id="11" name="TextBox 4">
              <a:extLst>
                <a:ext uri="{FF2B5EF4-FFF2-40B4-BE49-F238E27FC236}">
                  <a16:creationId xmlns:a16="http://schemas.microsoft.com/office/drawing/2014/main" id="{02EAE962-8488-49E6-B6E0-A95070AB0737}"/>
                </a:ext>
              </a:extLst>
            </p:cNvPr>
            <p:cNvSpPr txBox="1"/>
            <p:nvPr/>
          </p:nvSpPr>
          <p:spPr>
            <a:xfrm>
              <a:off x="0" y="-38100"/>
              <a:ext cx="4846706" cy="24335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5">
            <a:extLst>
              <a:ext uri="{FF2B5EF4-FFF2-40B4-BE49-F238E27FC236}">
                <a16:creationId xmlns:a16="http://schemas.microsoft.com/office/drawing/2014/main" id="{C72AD935-45CE-472B-AA7D-E43FDEE6A91D}"/>
              </a:ext>
            </a:extLst>
          </p:cNvPr>
          <p:cNvSpPr txBox="1"/>
          <p:nvPr/>
        </p:nvSpPr>
        <p:spPr>
          <a:xfrm>
            <a:off x="1943100" y="1028700"/>
            <a:ext cx="10477500" cy="8794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7300"/>
              </a:lnSpc>
            </a:pPr>
            <a:r>
              <a:rPr lang="en-US" sz="5000" b="1" spc="270" dirty="0" err="1">
                <a:solidFill>
                  <a:srgbClr val="242258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Aún</a:t>
            </a:r>
            <a:r>
              <a:rPr lang="en-US" sz="5000" b="1" spc="270" dirty="0">
                <a:solidFill>
                  <a:srgbClr val="242258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con </a:t>
            </a:r>
            <a:r>
              <a:rPr lang="en-US" sz="5000" b="1" spc="270" dirty="0" err="1">
                <a:solidFill>
                  <a:srgbClr val="242258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visitantes</a:t>
            </a:r>
            <a:r>
              <a:rPr lang="en-US" sz="5000" b="1" spc="270" dirty="0">
                <a:solidFill>
                  <a:srgbClr val="242258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…    – 3 – 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FD59A7A-BA39-4911-94D4-465DF9EE52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574" y="2857181"/>
            <a:ext cx="5760000" cy="4320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81997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1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2">
            <a:extLst>
              <a:ext uri="{FF2B5EF4-FFF2-40B4-BE49-F238E27FC236}">
                <a16:creationId xmlns:a16="http://schemas.microsoft.com/office/drawing/2014/main" id="{8E8777A2-5F54-4C26-B12C-A7C8DB4F0B5D}"/>
              </a:ext>
            </a:extLst>
          </p:cNvPr>
          <p:cNvGrpSpPr/>
          <p:nvPr/>
        </p:nvGrpSpPr>
        <p:grpSpPr>
          <a:xfrm>
            <a:off x="-114336" y="595944"/>
            <a:ext cx="18402336" cy="9095112"/>
            <a:chOff x="0" y="0"/>
            <a:chExt cx="4846706" cy="2395421"/>
          </a:xfrm>
        </p:grpSpPr>
        <p:sp>
          <p:nvSpPr>
            <p:cNvPr id="10" name="Freeform 3">
              <a:extLst>
                <a:ext uri="{FF2B5EF4-FFF2-40B4-BE49-F238E27FC236}">
                  <a16:creationId xmlns:a16="http://schemas.microsoft.com/office/drawing/2014/main" id="{B9E46EB2-D29D-4A78-9692-0263A8A23FDC}"/>
                </a:ext>
              </a:extLst>
            </p:cNvPr>
            <p:cNvSpPr/>
            <p:nvPr/>
          </p:nvSpPr>
          <p:spPr>
            <a:xfrm>
              <a:off x="0" y="0"/>
              <a:ext cx="4846706" cy="2395420"/>
            </a:xfrm>
            <a:custGeom>
              <a:avLst/>
              <a:gdLst/>
              <a:ahLst/>
              <a:cxnLst/>
              <a:rect l="l" t="t" r="r" b="b"/>
              <a:pathLst>
                <a:path w="4846706" h="2395420">
                  <a:moveTo>
                    <a:pt x="0" y="0"/>
                  </a:moveTo>
                  <a:lnTo>
                    <a:pt x="4846706" y="0"/>
                  </a:lnTo>
                  <a:lnTo>
                    <a:pt x="4846706" y="2395420"/>
                  </a:lnTo>
                  <a:lnTo>
                    <a:pt x="0" y="239542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id="11" name="TextBox 4">
              <a:extLst>
                <a:ext uri="{FF2B5EF4-FFF2-40B4-BE49-F238E27FC236}">
                  <a16:creationId xmlns:a16="http://schemas.microsoft.com/office/drawing/2014/main" id="{02EAE962-8488-49E6-B6E0-A95070AB0737}"/>
                </a:ext>
              </a:extLst>
            </p:cNvPr>
            <p:cNvSpPr txBox="1"/>
            <p:nvPr/>
          </p:nvSpPr>
          <p:spPr>
            <a:xfrm>
              <a:off x="0" y="-38100"/>
              <a:ext cx="4846706" cy="24335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5">
            <a:extLst>
              <a:ext uri="{FF2B5EF4-FFF2-40B4-BE49-F238E27FC236}">
                <a16:creationId xmlns:a16="http://schemas.microsoft.com/office/drawing/2014/main" id="{C72AD935-45CE-472B-AA7D-E43FDEE6A91D}"/>
              </a:ext>
            </a:extLst>
          </p:cNvPr>
          <p:cNvSpPr txBox="1"/>
          <p:nvPr/>
        </p:nvSpPr>
        <p:spPr>
          <a:xfrm>
            <a:off x="1600200" y="1028700"/>
            <a:ext cx="16306800" cy="8794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7300"/>
              </a:lnSpc>
            </a:pPr>
            <a:r>
              <a:rPr lang="en-US" sz="5000" b="1" spc="270" dirty="0">
                <a:solidFill>
                  <a:srgbClr val="242258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La </a:t>
            </a:r>
            <a:r>
              <a:rPr lang="en-US" sz="5000" b="1" i="1" spc="270" dirty="0" err="1">
                <a:solidFill>
                  <a:srgbClr val="242258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magia</a:t>
            </a:r>
            <a:r>
              <a:rPr lang="en-US" sz="5000" b="1" spc="270" dirty="0">
                <a:solidFill>
                  <a:srgbClr val="242258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… la </a:t>
            </a:r>
            <a:r>
              <a:rPr lang="en-US" sz="5000" b="1" spc="270" dirty="0" err="1">
                <a:solidFill>
                  <a:srgbClr val="242258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arquitectura</a:t>
            </a:r>
            <a:r>
              <a:rPr lang="en-US" sz="5000" b="1" spc="270" dirty="0">
                <a:solidFill>
                  <a:srgbClr val="242258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de red </a:t>
            </a:r>
            <a:r>
              <a:rPr lang="en-US" sz="5000" b="1" i="1" spc="270" dirty="0">
                <a:solidFill>
                  <a:schemeClr val="accent6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Transformer</a:t>
            </a:r>
          </a:p>
        </p:txBody>
      </p:sp>
      <p:pic>
        <p:nvPicPr>
          <p:cNvPr id="4098" name="Picture 2" descr="Prime Video: Transformers: Prime - Ultimate Autobots">
            <a:extLst>
              <a:ext uri="{FF2B5EF4-FFF2-40B4-BE49-F238E27FC236}">
                <a16:creationId xmlns:a16="http://schemas.microsoft.com/office/drawing/2014/main" id="{2D795FF0-72A8-4EF7-9806-63F5881D223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666"/>
          <a:stretch/>
        </p:blipFill>
        <p:spPr bwMode="auto">
          <a:xfrm>
            <a:off x="5886450" y="2476500"/>
            <a:ext cx="6515100" cy="57912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55970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1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2">
            <a:extLst>
              <a:ext uri="{FF2B5EF4-FFF2-40B4-BE49-F238E27FC236}">
                <a16:creationId xmlns:a16="http://schemas.microsoft.com/office/drawing/2014/main" id="{8E8777A2-5F54-4C26-B12C-A7C8DB4F0B5D}"/>
              </a:ext>
            </a:extLst>
          </p:cNvPr>
          <p:cNvGrpSpPr/>
          <p:nvPr/>
        </p:nvGrpSpPr>
        <p:grpSpPr>
          <a:xfrm>
            <a:off x="-114336" y="595944"/>
            <a:ext cx="18402336" cy="9095112"/>
            <a:chOff x="0" y="0"/>
            <a:chExt cx="4846706" cy="2395421"/>
          </a:xfrm>
        </p:grpSpPr>
        <p:sp>
          <p:nvSpPr>
            <p:cNvPr id="10" name="Freeform 3">
              <a:extLst>
                <a:ext uri="{FF2B5EF4-FFF2-40B4-BE49-F238E27FC236}">
                  <a16:creationId xmlns:a16="http://schemas.microsoft.com/office/drawing/2014/main" id="{B9E46EB2-D29D-4A78-9692-0263A8A23FDC}"/>
                </a:ext>
              </a:extLst>
            </p:cNvPr>
            <p:cNvSpPr/>
            <p:nvPr/>
          </p:nvSpPr>
          <p:spPr>
            <a:xfrm>
              <a:off x="0" y="0"/>
              <a:ext cx="4846706" cy="2395420"/>
            </a:xfrm>
            <a:custGeom>
              <a:avLst/>
              <a:gdLst/>
              <a:ahLst/>
              <a:cxnLst/>
              <a:rect l="l" t="t" r="r" b="b"/>
              <a:pathLst>
                <a:path w="4846706" h="2395420">
                  <a:moveTo>
                    <a:pt x="0" y="0"/>
                  </a:moveTo>
                  <a:lnTo>
                    <a:pt x="4846706" y="0"/>
                  </a:lnTo>
                  <a:lnTo>
                    <a:pt x="4846706" y="2395420"/>
                  </a:lnTo>
                  <a:lnTo>
                    <a:pt x="0" y="239542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id="11" name="TextBox 4">
              <a:extLst>
                <a:ext uri="{FF2B5EF4-FFF2-40B4-BE49-F238E27FC236}">
                  <a16:creationId xmlns:a16="http://schemas.microsoft.com/office/drawing/2014/main" id="{02EAE962-8488-49E6-B6E0-A95070AB0737}"/>
                </a:ext>
              </a:extLst>
            </p:cNvPr>
            <p:cNvSpPr txBox="1"/>
            <p:nvPr/>
          </p:nvSpPr>
          <p:spPr>
            <a:xfrm>
              <a:off x="0" y="-38100"/>
              <a:ext cx="4846706" cy="24335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5">
            <a:extLst>
              <a:ext uri="{FF2B5EF4-FFF2-40B4-BE49-F238E27FC236}">
                <a16:creationId xmlns:a16="http://schemas.microsoft.com/office/drawing/2014/main" id="{C72AD935-45CE-472B-AA7D-E43FDEE6A91D}"/>
              </a:ext>
            </a:extLst>
          </p:cNvPr>
          <p:cNvSpPr txBox="1"/>
          <p:nvPr/>
        </p:nvSpPr>
        <p:spPr>
          <a:xfrm>
            <a:off x="1600200" y="1028700"/>
            <a:ext cx="5963482" cy="27517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300"/>
              </a:lnSpc>
            </a:pPr>
            <a:r>
              <a:rPr lang="en-US" sz="5000" b="1" spc="270" dirty="0">
                <a:solidFill>
                  <a:srgbClr val="242258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La </a:t>
            </a:r>
            <a:r>
              <a:rPr lang="en-US" sz="5000" b="1" spc="270" dirty="0" err="1">
                <a:solidFill>
                  <a:srgbClr val="242258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arquitectura</a:t>
            </a:r>
            <a:r>
              <a:rPr lang="en-US" sz="5000" b="1" spc="270" dirty="0">
                <a:solidFill>
                  <a:srgbClr val="242258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de red neuronal</a:t>
            </a:r>
          </a:p>
          <a:p>
            <a:pPr algn="just">
              <a:lnSpc>
                <a:spcPts val="7300"/>
              </a:lnSpc>
            </a:pPr>
            <a:r>
              <a:rPr lang="en-US" sz="5000" b="1" i="1" spc="270" dirty="0">
                <a:solidFill>
                  <a:schemeClr val="accent6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Transformer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52851E1-09ED-4605-A0E9-68F359C2A1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485900"/>
            <a:ext cx="5963482" cy="776395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665484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1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2">
            <a:extLst>
              <a:ext uri="{FF2B5EF4-FFF2-40B4-BE49-F238E27FC236}">
                <a16:creationId xmlns:a16="http://schemas.microsoft.com/office/drawing/2014/main" id="{8E8777A2-5F54-4C26-B12C-A7C8DB4F0B5D}"/>
              </a:ext>
            </a:extLst>
          </p:cNvPr>
          <p:cNvGrpSpPr/>
          <p:nvPr/>
        </p:nvGrpSpPr>
        <p:grpSpPr>
          <a:xfrm>
            <a:off x="-114336" y="595944"/>
            <a:ext cx="18402336" cy="9095112"/>
            <a:chOff x="0" y="0"/>
            <a:chExt cx="4846706" cy="2395421"/>
          </a:xfrm>
        </p:grpSpPr>
        <p:sp>
          <p:nvSpPr>
            <p:cNvPr id="10" name="Freeform 3">
              <a:extLst>
                <a:ext uri="{FF2B5EF4-FFF2-40B4-BE49-F238E27FC236}">
                  <a16:creationId xmlns:a16="http://schemas.microsoft.com/office/drawing/2014/main" id="{B9E46EB2-D29D-4A78-9692-0263A8A23FDC}"/>
                </a:ext>
              </a:extLst>
            </p:cNvPr>
            <p:cNvSpPr/>
            <p:nvPr/>
          </p:nvSpPr>
          <p:spPr>
            <a:xfrm>
              <a:off x="0" y="0"/>
              <a:ext cx="4846706" cy="2395420"/>
            </a:xfrm>
            <a:custGeom>
              <a:avLst/>
              <a:gdLst/>
              <a:ahLst/>
              <a:cxnLst/>
              <a:rect l="l" t="t" r="r" b="b"/>
              <a:pathLst>
                <a:path w="4846706" h="2395420">
                  <a:moveTo>
                    <a:pt x="0" y="0"/>
                  </a:moveTo>
                  <a:lnTo>
                    <a:pt x="4846706" y="0"/>
                  </a:lnTo>
                  <a:lnTo>
                    <a:pt x="4846706" y="2395420"/>
                  </a:lnTo>
                  <a:lnTo>
                    <a:pt x="0" y="239542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id="11" name="TextBox 4">
              <a:extLst>
                <a:ext uri="{FF2B5EF4-FFF2-40B4-BE49-F238E27FC236}">
                  <a16:creationId xmlns:a16="http://schemas.microsoft.com/office/drawing/2014/main" id="{02EAE962-8488-49E6-B6E0-A95070AB0737}"/>
                </a:ext>
              </a:extLst>
            </p:cNvPr>
            <p:cNvSpPr txBox="1"/>
            <p:nvPr/>
          </p:nvSpPr>
          <p:spPr>
            <a:xfrm>
              <a:off x="0" y="-38100"/>
              <a:ext cx="4846706" cy="24335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5">
            <a:extLst>
              <a:ext uri="{FF2B5EF4-FFF2-40B4-BE49-F238E27FC236}">
                <a16:creationId xmlns:a16="http://schemas.microsoft.com/office/drawing/2014/main" id="{C72AD935-45CE-472B-AA7D-E43FDEE6A91D}"/>
              </a:ext>
            </a:extLst>
          </p:cNvPr>
          <p:cNvSpPr txBox="1"/>
          <p:nvPr/>
        </p:nvSpPr>
        <p:spPr>
          <a:xfrm>
            <a:off x="228600" y="1028700"/>
            <a:ext cx="17678400" cy="8724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300"/>
              </a:lnSpc>
            </a:pPr>
            <a:r>
              <a:rPr lang="en-US" sz="4800" b="1" spc="270" dirty="0" err="1">
                <a:solidFill>
                  <a:srgbClr val="242258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Procesamiento</a:t>
            </a:r>
            <a:r>
              <a:rPr lang="en-US" sz="4800" b="1" spc="270" dirty="0">
                <a:solidFill>
                  <a:srgbClr val="242258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de </a:t>
            </a:r>
            <a:r>
              <a:rPr lang="en-US" sz="4800" b="1" spc="270" dirty="0" err="1">
                <a:solidFill>
                  <a:srgbClr val="242258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lenguaje</a:t>
            </a:r>
            <a:r>
              <a:rPr lang="en-US" sz="4800" b="1" spc="270" dirty="0">
                <a:solidFill>
                  <a:srgbClr val="242258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natural: </a:t>
            </a:r>
            <a:r>
              <a:rPr lang="en-US" sz="4800" b="1" i="1" spc="270" dirty="0">
                <a:solidFill>
                  <a:schemeClr val="accent6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Word Embeddings</a:t>
            </a:r>
            <a:endParaRPr lang="en-US" sz="5000" b="1" i="1" spc="270" dirty="0">
              <a:solidFill>
                <a:schemeClr val="accent6"/>
              </a:solidFill>
              <a:latin typeface="Red Hat Display Bold"/>
              <a:ea typeface="Red Hat Display Bold"/>
              <a:cs typeface="Red Hat Display Bold"/>
              <a:sym typeface="Red Hat Display Bold"/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F009A634-69EF-41FB-8E26-2B3EA89EE5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6813" y="2781300"/>
            <a:ext cx="8334375" cy="62198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43170ED3-FC9E-42EC-A033-325DE5094015}"/>
              </a:ext>
            </a:extLst>
          </p:cNvPr>
          <p:cNvSpPr txBox="1"/>
          <p:nvPr/>
        </p:nvSpPr>
        <p:spPr>
          <a:xfrm>
            <a:off x="10896600" y="9248775"/>
            <a:ext cx="7086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i="1" dirty="0"/>
              <a:t>Fuente: https://medium.com/@hari4om/word-embedding-d816f643140</a:t>
            </a:r>
          </a:p>
        </p:txBody>
      </p:sp>
    </p:spTree>
    <p:extLst>
      <p:ext uri="{BB962C8B-B14F-4D97-AF65-F5344CB8AC3E}">
        <p14:creationId xmlns:p14="http://schemas.microsoft.com/office/powerpoint/2010/main" val="3970365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1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2">
            <a:extLst>
              <a:ext uri="{FF2B5EF4-FFF2-40B4-BE49-F238E27FC236}">
                <a16:creationId xmlns:a16="http://schemas.microsoft.com/office/drawing/2014/main" id="{8E8777A2-5F54-4C26-B12C-A7C8DB4F0B5D}"/>
              </a:ext>
            </a:extLst>
          </p:cNvPr>
          <p:cNvGrpSpPr/>
          <p:nvPr/>
        </p:nvGrpSpPr>
        <p:grpSpPr>
          <a:xfrm>
            <a:off x="-114336" y="595944"/>
            <a:ext cx="18402336" cy="9095112"/>
            <a:chOff x="0" y="0"/>
            <a:chExt cx="4846706" cy="2395421"/>
          </a:xfrm>
        </p:grpSpPr>
        <p:sp>
          <p:nvSpPr>
            <p:cNvPr id="10" name="Freeform 3">
              <a:extLst>
                <a:ext uri="{FF2B5EF4-FFF2-40B4-BE49-F238E27FC236}">
                  <a16:creationId xmlns:a16="http://schemas.microsoft.com/office/drawing/2014/main" id="{B9E46EB2-D29D-4A78-9692-0263A8A23FDC}"/>
                </a:ext>
              </a:extLst>
            </p:cNvPr>
            <p:cNvSpPr/>
            <p:nvPr/>
          </p:nvSpPr>
          <p:spPr>
            <a:xfrm>
              <a:off x="0" y="0"/>
              <a:ext cx="4846706" cy="2395420"/>
            </a:xfrm>
            <a:custGeom>
              <a:avLst/>
              <a:gdLst/>
              <a:ahLst/>
              <a:cxnLst/>
              <a:rect l="l" t="t" r="r" b="b"/>
              <a:pathLst>
                <a:path w="4846706" h="2395420">
                  <a:moveTo>
                    <a:pt x="0" y="0"/>
                  </a:moveTo>
                  <a:lnTo>
                    <a:pt x="4846706" y="0"/>
                  </a:lnTo>
                  <a:lnTo>
                    <a:pt x="4846706" y="2395420"/>
                  </a:lnTo>
                  <a:lnTo>
                    <a:pt x="0" y="239542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id="11" name="TextBox 4">
              <a:extLst>
                <a:ext uri="{FF2B5EF4-FFF2-40B4-BE49-F238E27FC236}">
                  <a16:creationId xmlns:a16="http://schemas.microsoft.com/office/drawing/2014/main" id="{02EAE962-8488-49E6-B6E0-A95070AB0737}"/>
                </a:ext>
              </a:extLst>
            </p:cNvPr>
            <p:cNvSpPr txBox="1"/>
            <p:nvPr/>
          </p:nvSpPr>
          <p:spPr>
            <a:xfrm>
              <a:off x="0" y="-38100"/>
              <a:ext cx="4846706" cy="24335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5">
            <a:extLst>
              <a:ext uri="{FF2B5EF4-FFF2-40B4-BE49-F238E27FC236}">
                <a16:creationId xmlns:a16="http://schemas.microsoft.com/office/drawing/2014/main" id="{C72AD935-45CE-472B-AA7D-E43FDEE6A91D}"/>
              </a:ext>
            </a:extLst>
          </p:cNvPr>
          <p:cNvSpPr txBox="1"/>
          <p:nvPr/>
        </p:nvSpPr>
        <p:spPr>
          <a:xfrm>
            <a:off x="1219200" y="1028700"/>
            <a:ext cx="16687800" cy="8724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300"/>
              </a:lnSpc>
            </a:pPr>
            <a:r>
              <a:rPr lang="en-US" sz="4800" b="1" i="1" spc="270" dirty="0">
                <a:solidFill>
                  <a:schemeClr val="accent6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Attention is all you need</a:t>
            </a:r>
            <a:endParaRPr lang="en-US" sz="5000" b="1" i="1" spc="270" dirty="0">
              <a:solidFill>
                <a:schemeClr val="accent6"/>
              </a:solidFill>
              <a:latin typeface="Red Hat Display Bold"/>
              <a:ea typeface="Red Hat Display Bold"/>
              <a:cs typeface="Red Hat Display Bold"/>
              <a:sym typeface="Red Hat Display Bold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43170ED3-FC9E-42EC-A033-325DE5094015}"/>
              </a:ext>
            </a:extLst>
          </p:cNvPr>
          <p:cNvSpPr txBox="1"/>
          <p:nvPr/>
        </p:nvSpPr>
        <p:spPr>
          <a:xfrm>
            <a:off x="10896600" y="9248775"/>
            <a:ext cx="7086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MX" i="1" dirty="0"/>
              <a:t>Fuente: https://www.kaggle.com/discussions/general/493003</a:t>
            </a:r>
          </a:p>
        </p:txBody>
      </p:sp>
      <p:pic>
        <p:nvPicPr>
          <p:cNvPr id="6150" name="Picture 6">
            <a:extLst>
              <a:ext uri="{FF2B5EF4-FFF2-40B4-BE49-F238E27FC236}">
                <a16:creationId xmlns:a16="http://schemas.microsoft.com/office/drawing/2014/main" id="{7B8C4108-D82B-426C-B505-2F90E11256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5417" y="3162300"/>
            <a:ext cx="10337166" cy="453866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63702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1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2">
            <a:extLst>
              <a:ext uri="{FF2B5EF4-FFF2-40B4-BE49-F238E27FC236}">
                <a16:creationId xmlns:a16="http://schemas.microsoft.com/office/drawing/2014/main" id="{8E8777A2-5F54-4C26-B12C-A7C8DB4F0B5D}"/>
              </a:ext>
            </a:extLst>
          </p:cNvPr>
          <p:cNvGrpSpPr/>
          <p:nvPr/>
        </p:nvGrpSpPr>
        <p:grpSpPr>
          <a:xfrm>
            <a:off x="-114336" y="595944"/>
            <a:ext cx="18402336" cy="9095112"/>
            <a:chOff x="0" y="0"/>
            <a:chExt cx="4846706" cy="2395421"/>
          </a:xfrm>
        </p:grpSpPr>
        <p:sp>
          <p:nvSpPr>
            <p:cNvPr id="10" name="Freeform 3">
              <a:extLst>
                <a:ext uri="{FF2B5EF4-FFF2-40B4-BE49-F238E27FC236}">
                  <a16:creationId xmlns:a16="http://schemas.microsoft.com/office/drawing/2014/main" id="{B9E46EB2-D29D-4A78-9692-0263A8A23FDC}"/>
                </a:ext>
              </a:extLst>
            </p:cNvPr>
            <p:cNvSpPr/>
            <p:nvPr/>
          </p:nvSpPr>
          <p:spPr>
            <a:xfrm>
              <a:off x="0" y="0"/>
              <a:ext cx="4846706" cy="2395420"/>
            </a:xfrm>
            <a:custGeom>
              <a:avLst/>
              <a:gdLst/>
              <a:ahLst/>
              <a:cxnLst/>
              <a:rect l="l" t="t" r="r" b="b"/>
              <a:pathLst>
                <a:path w="4846706" h="2395420">
                  <a:moveTo>
                    <a:pt x="0" y="0"/>
                  </a:moveTo>
                  <a:lnTo>
                    <a:pt x="4846706" y="0"/>
                  </a:lnTo>
                  <a:lnTo>
                    <a:pt x="4846706" y="2395420"/>
                  </a:lnTo>
                  <a:lnTo>
                    <a:pt x="0" y="239542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id="11" name="TextBox 4">
              <a:extLst>
                <a:ext uri="{FF2B5EF4-FFF2-40B4-BE49-F238E27FC236}">
                  <a16:creationId xmlns:a16="http://schemas.microsoft.com/office/drawing/2014/main" id="{02EAE962-8488-49E6-B6E0-A95070AB0737}"/>
                </a:ext>
              </a:extLst>
            </p:cNvPr>
            <p:cNvSpPr txBox="1"/>
            <p:nvPr/>
          </p:nvSpPr>
          <p:spPr>
            <a:xfrm>
              <a:off x="0" y="-38100"/>
              <a:ext cx="4846706" cy="24335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5">
                <a:extLst>
                  <a:ext uri="{FF2B5EF4-FFF2-40B4-BE49-F238E27FC236}">
                    <a16:creationId xmlns:a16="http://schemas.microsoft.com/office/drawing/2014/main" id="{C72AD935-45CE-472B-AA7D-E43FDEE6A91D}"/>
                  </a:ext>
                </a:extLst>
              </p:cNvPr>
              <p:cNvSpPr txBox="1"/>
              <p:nvPr/>
            </p:nvSpPr>
            <p:spPr>
              <a:xfrm>
                <a:off x="3467100" y="2547629"/>
                <a:ext cx="11353800" cy="5191742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>
                  <a:lnSpc>
                    <a:spcPts val="7300"/>
                  </a:lnSpc>
                </a:pPr>
                <a14:m>
                  <m:oMath xmlns:m="http://schemas.openxmlformats.org/officeDocument/2006/math">
                    <m:r>
                      <a:rPr lang="en-US" sz="4800" b="1" i="1" spc="270" dirty="0" smtClean="0">
                        <a:latin typeface="Cambria Math" panose="02040503050406030204" pitchFamily="18" charset="0"/>
                        <a:ea typeface="Red Hat Display Bold"/>
                        <a:cs typeface="Red Hat Display Bold"/>
                        <a:sym typeface="Red Hat Display Bold"/>
                      </a:rPr>
                      <m:t>∗</m:t>
                    </m:r>
                  </m:oMath>
                </a14:m>
                <a:r>
                  <a:rPr lang="en-US" sz="4800" b="1" spc="270" dirty="0">
                    <a:latin typeface="Arial Narrow" panose="020B0606020202030204" pitchFamily="34" charset="0"/>
                    <a:ea typeface="Red Hat Display Bold"/>
                    <a:cs typeface="Red Hat Display Bold"/>
                    <a:sym typeface="Red Hat Display Bold"/>
                  </a:rPr>
                  <a:t> Disclaimer </a:t>
                </a:r>
                <a14:m>
                  <m:oMath xmlns:m="http://schemas.openxmlformats.org/officeDocument/2006/math">
                    <m:r>
                      <a:rPr lang="en-US" sz="4800" b="1" i="1" spc="270" dirty="0">
                        <a:latin typeface="Cambria Math" panose="02040503050406030204" pitchFamily="18" charset="0"/>
                        <a:ea typeface="Red Hat Display Bold"/>
                        <a:cs typeface="Red Hat Display Bold"/>
                        <a:sym typeface="Red Hat Display Bold"/>
                      </a:rPr>
                      <m:t>∗</m:t>
                    </m:r>
                  </m:oMath>
                </a14:m>
                <a:endParaRPr lang="en-US" sz="4800" b="1" spc="270" dirty="0">
                  <a:latin typeface="Arial Narrow" panose="020B0606020202030204" pitchFamily="34" charset="0"/>
                  <a:ea typeface="Red Hat Display Bold"/>
                  <a:cs typeface="Red Hat Display Bold"/>
                  <a:sym typeface="Red Hat Display Bold"/>
                </a:endParaRPr>
              </a:p>
              <a:p>
                <a:pPr algn="ctr">
                  <a:lnSpc>
                    <a:spcPts val="7300"/>
                  </a:lnSpc>
                </a:pPr>
                <a:endParaRPr lang="en-US" sz="4800" b="1" spc="270" dirty="0">
                  <a:latin typeface="Arial Narrow" panose="020B0606020202030204" pitchFamily="34" charset="0"/>
                  <a:ea typeface="Red Hat Display Bold"/>
                  <a:cs typeface="Red Hat Display Bold"/>
                  <a:sym typeface="Red Hat Display Bold"/>
                </a:endParaRPr>
              </a:p>
              <a:p>
                <a:pPr algn="just">
                  <a:lnSpc>
                    <a:spcPct val="114000"/>
                  </a:lnSpc>
                </a:pPr>
                <a:r>
                  <a:rPr lang="en-US" sz="3200" spc="270" dirty="0">
                    <a:latin typeface="Arial Narrow" panose="020B0606020202030204" pitchFamily="34" charset="0"/>
                    <a:ea typeface="Red Hat Display Bold"/>
                    <a:cs typeface="Red Hat Display Bold"/>
                    <a:sym typeface="Red Hat Display Bold"/>
                  </a:rPr>
                  <a:t>La </a:t>
                </a:r>
                <a:r>
                  <a:rPr lang="en-US" sz="3200" spc="270" dirty="0" err="1">
                    <a:latin typeface="Arial Narrow" panose="020B0606020202030204" pitchFamily="34" charset="0"/>
                    <a:ea typeface="Red Hat Display Bold"/>
                    <a:cs typeface="Red Hat Display Bold"/>
                    <a:sym typeface="Red Hat Display Bold"/>
                  </a:rPr>
                  <a:t>fuente</a:t>
                </a:r>
                <a:r>
                  <a:rPr lang="en-US" sz="3200" spc="270" dirty="0">
                    <a:latin typeface="Arial Narrow" panose="020B0606020202030204" pitchFamily="34" charset="0"/>
                    <a:ea typeface="Red Hat Display Bold"/>
                    <a:cs typeface="Red Hat Display Bold"/>
                    <a:sym typeface="Red Hat Display Bold"/>
                  </a:rPr>
                  <a:t> de la </a:t>
                </a:r>
                <a:r>
                  <a:rPr lang="en-US" sz="3200" spc="270" dirty="0" err="1">
                    <a:latin typeface="Arial Narrow" panose="020B0606020202030204" pitchFamily="34" charset="0"/>
                    <a:ea typeface="Red Hat Display Bold"/>
                    <a:cs typeface="Red Hat Display Bold"/>
                    <a:sym typeface="Red Hat Display Bold"/>
                  </a:rPr>
                  <a:t>información</a:t>
                </a:r>
                <a:r>
                  <a:rPr lang="en-US" sz="3200" spc="270" dirty="0">
                    <a:latin typeface="Arial Narrow" panose="020B0606020202030204" pitchFamily="34" charset="0"/>
                    <a:ea typeface="Red Hat Display Bold"/>
                    <a:cs typeface="Red Hat Display Bold"/>
                    <a:sym typeface="Red Hat Display Bold"/>
                  </a:rPr>
                  <a:t> e </a:t>
                </a:r>
                <a:r>
                  <a:rPr lang="en-US" sz="3200" spc="270" dirty="0" err="1">
                    <a:latin typeface="Arial Narrow" panose="020B0606020202030204" pitchFamily="34" charset="0"/>
                    <a:ea typeface="Red Hat Display Bold"/>
                    <a:cs typeface="Red Hat Display Bold"/>
                    <a:sym typeface="Red Hat Display Bold"/>
                  </a:rPr>
                  <a:t>imágenes</a:t>
                </a:r>
                <a:r>
                  <a:rPr lang="en-US" sz="3200" spc="270" dirty="0">
                    <a:latin typeface="Arial Narrow" panose="020B0606020202030204" pitchFamily="34" charset="0"/>
                    <a:ea typeface="Red Hat Display Bold"/>
                    <a:cs typeface="Red Hat Display Bold"/>
                    <a:sym typeface="Red Hat Display Bold"/>
                  </a:rPr>
                  <a:t> </a:t>
                </a:r>
                <a:r>
                  <a:rPr lang="en-US" sz="3200" spc="270" dirty="0" err="1">
                    <a:latin typeface="Arial Narrow" panose="020B0606020202030204" pitchFamily="34" charset="0"/>
                    <a:ea typeface="Red Hat Display Bold"/>
                    <a:cs typeface="Red Hat Display Bold"/>
                    <a:sym typeface="Red Hat Display Bold"/>
                  </a:rPr>
                  <a:t>relacionadas</a:t>
                </a:r>
                <a:r>
                  <a:rPr lang="en-US" sz="3200" spc="270" dirty="0">
                    <a:latin typeface="Arial Narrow" panose="020B0606020202030204" pitchFamily="34" charset="0"/>
                    <a:ea typeface="Red Hat Display Bold"/>
                    <a:cs typeface="Red Hat Display Bold"/>
                    <a:sym typeface="Red Hat Display Bold"/>
                  </a:rPr>
                  <a:t> con la </a:t>
                </a:r>
                <a:r>
                  <a:rPr lang="en-US" sz="3200" spc="270" dirty="0" err="1">
                    <a:latin typeface="Arial Narrow" panose="020B0606020202030204" pitchFamily="34" charset="0"/>
                    <a:ea typeface="Red Hat Display Bold"/>
                    <a:cs typeface="Red Hat Display Bold"/>
                    <a:sym typeface="Red Hat Display Bold"/>
                  </a:rPr>
                  <a:t>aplicación</a:t>
                </a:r>
                <a:r>
                  <a:rPr lang="en-US" sz="3200" spc="270" dirty="0">
                    <a:latin typeface="Arial Narrow" panose="020B0606020202030204" pitchFamily="34" charset="0"/>
                    <a:ea typeface="Red Hat Display Bold"/>
                    <a:cs typeface="Red Hat Display Bold"/>
                    <a:sym typeface="Red Hat Display Bold"/>
                  </a:rPr>
                  <a:t> de la </a:t>
                </a:r>
                <a:r>
                  <a:rPr lang="en-US" sz="3200" spc="270" dirty="0" err="1">
                    <a:latin typeface="Arial Narrow" panose="020B0606020202030204" pitchFamily="34" charset="0"/>
                    <a:ea typeface="Red Hat Display Bold"/>
                    <a:cs typeface="Red Hat Display Bold"/>
                    <a:sym typeface="Red Hat Display Bold"/>
                  </a:rPr>
                  <a:t>arquitectura</a:t>
                </a:r>
                <a:r>
                  <a:rPr lang="en-US" sz="3200" spc="270" dirty="0">
                    <a:latin typeface="Arial Narrow" panose="020B0606020202030204" pitchFamily="34" charset="0"/>
                    <a:ea typeface="Red Hat Display Bold"/>
                    <a:cs typeface="Red Hat Display Bold"/>
                    <a:sym typeface="Red Hat Display Bold"/>
                  </a:rPr>
                  <a:t> </a:t>
                </a:r>
                <a:r>
                  <a:rPr lang="en-US" sz="3200" i="1" spc="270" dirty="0">
                    <a:latin typeface="Arial Narrow" panose="020B0606020202030204" pitchFamily="34" charset="0"/>
                    <a:ea typeface="Red Hat Display Bold"/>
                    <a:cs typeface="Red Hat Display Bold"/>
                    <a:sym typeface="Red Hat Display Bold"/>
                  </a:rPr>
                  <a:t>Transformer</a:t>
                </a:r>
                <a:r>
                  <a:rPr lang="en-US" sz="3200" spc="270" dirty="0">
                    <a:latin typeface="Arial Narrow" panose="020B0606020202030204" pitchFamily="34" charset="0"/>
                    <a:ea typeface="Red Hat Display Bold"/>
                    <a:cs typeface="Red Hat Display Bold"/>
                    <a:sym typeface="Red Hat Display Bold"/>
                  </a:rPr>
                  <a:t> al </a:t>
                </a:r>
                <a:r>
                  <a:rPr lang="en-US" sz="3200" spc="270" dirty="0" err="1">
                    <a:latin typeface="Arial Narrow" panose="020B0606020202030204" pitchFamily="34" charset="0"/>
                    <a:ea typeface="Red Hat Display Bold"/>
                    <a:cs typeface="Red Hat Display Bold"/>
                    <a:sym typeface="Red Hat Display Bold"/>
                  </a:rPr>
                  <a:t>área</a:t>
                </a:r>
                <a:r>
                  <a:rPr lang="en-US" sz="3200" spc="270" dirty="0">
                    <a:latin typeface="Arial Narrow" panose="020B0606020202030204" pitchFamily="34" charset="0"/>
                    <a:ea typeface="Red Hat Display Bold"/>
                    <a:cs typeface="Red Hat Display Bold"/>
                    <a:sym typeface="Red Hat Display Bold"/>
                  </a:rPr>
                  <a:t> de </a:t>
                </a:r>
                <a:r>
                  <a:rPr lang="en-US" sz="3200" spc="270" dirty="0" err="1">
                    <a:latin typeface="Arial Narrow" panose="020B0606020202030204" pitchFamily="34" charset="0"/>
                    <a:ea typeface="Red Hat Display Bold"/>
                    <a:cs typeface="Red Hat Display Bold"/>
                    <a:sym typeface="Red Hat Display Bold"/>
                  </a:rPr>
                  <a:t>visión</a:t>
                </a:r>
                <a:r>
                  <a:rPr lang="en-US" sz="3200" spc="270" dirty="0">
                    <a:latin typeface="Arial Narrow" panose="020B0606020202030204" pitchFamily="34" charset="0"/>
                    <a:ea typeface="Red Hat Display Bold"/>
                    <a:cs typeface="Red Hat Display Bold"/>
                    <a:sym typeface="Red Hat Display Bold"/>
                  </a:rPr>
                  <a:t> por </a:t>
                </a:r>
                <a:r>
                  <a:rPr lang="en-US" sz="3200" spc="270" dirty="0" err="1">
                    <a:latin typeface="Arial Narrow" panose="020B0606020202030204" pitchFamily="34" charset="0"/>
                    <a:ea typeface="Red Hat Display Bold"/>
                    <a:cs typeface="Red Hat Display Bold"/>
                    <a:sym typeface="Red Hat Display Bold"/>
                  </a:rPr>
                  <a:t>computadora</a:t>
                </a:r>
                <a:r>
                  <a:rPr lang="en-US" sz="3200" spc="270" dirty="0">
                    <a:latin typeface="Arial Narrow" panose="020B0606020202030204" pitchFamily="34" charset="0"/>
                    <a:ea typeface="Red Hat Display Bold"/>
                    <a:cs typeface="Red Hat Display Bold"/>
                    <a:sym typeface="Red Hat Display Bold"/>
                  </a:rPr>
                  <a:t> es la </a:t>
                </a:r>
                <a:r>
                  <a:rPr lang="en-US" sz="3200" spc="270" dirty="0" err="1">
                    <a:latin typeface="Arial Narrow" panose="020B0606020202030204" pitchFamily="34" charset="0"/>
                    <a:ea typeface="Red Hat Display Bold"/>
                    <a:cs typeface="Red Hat Display Bold"/>
                    <a:sym typeface="Red Hat Display Bold"/>
                  </a:rPr>
                  <a:t>conferencia</a:t>
                </a:r>
                <a:r>
                  <a:rPr lang="en-US" sz="3200" spc="270" dirty="0">
                    <a:latin typeface="Arial Narrow" panose="020B0606020202030204" pitchFamily="34" charset="0"/>
                    <a:ea typeface="Red Hat Display Bold"/>
                    <a:cs typeface="Red Hat Display Bold"/>
                    <a:sym typeface="Red Hat Display Bold"/>
                  </a:rPr>
                  <a:t> </a:t>
                </a:r>
                <a:r>
                  <a:rPr lang="en-US" sz="3200" i="1" spc="270" dirty="0">
                    <a:latin typeface="Arial Narrow" panose="020B0606020202030204" pitchFamily="34" charset="0"/>
                    <a:ea typeface="Red Hat Display Bold"/>
                    <a:cs typeface="Red Hat Display Bold"/>
                    <a:sym typeface="Red Hat Display Bold"/>
                  </a:rPr>
                  <a:t>“The Bitter Lesson”</a:t>
                </a:r>
                <a:r>
                  <a:rPr lang="en-US" sz="3200" spc="270" dirty="0">
                    <a:latin typeface="Arial Narrow" panose="020B0606020202030204" pitchFamily="34" charset="0"/>
                    <a:ea typeface="Red Hat Display Bold"/>
                    <a:cs typeface="Red Hat Display Bold"/>
                    <a:sym typeface="Red Hat Display Bold"/>
                  </a:rPr>
                  <a:t> </a:t>
                </a:r>
                <a:r>
                  <a:rPr lang="en-US" sz="3200" spc="270" dirty="0" err="1">
                    <a:latin typeface="Arial Narrow" panose="020B0606020202030204" pitchFamily="34" charset="0"/>
                    <a:ea typeface="Red Hat Display Bold"/>
                    <a:cs typeface="Red Hat Display Bold"/>
                    <a:sym typeface="Red Hat Display Bold"/>
                  </a:rPr>
                  <a:t>dictada</a:t>
                </a:r>
                <a:r>
                  <a:rPr lang="en-US" sz="3200" spc="270" dirty="0">
                    <a:latin typeface="Arial Narrow" panose="020B0606020202030204" pitchFamily="34" charset="0"/>
                    <a:ea typeface="Red Hat Display Bold"/>
                    <a:cs typeface="Red Hat Display Bold"/>
                    <a:sym typeface="Red Hat Display Bold"/>
                  </a:rPr>
                  <a:t> por </a:t>
                </a:r>
                <a:r>
                  <a:rPr lang="en-US" sz="3200" spc="270" dirty="0" err="1">
                    <a:latin typeface="Arial Narrow" panose="020B0606020202030204" pitchFamily="34" charset="0"/>
                    <a:ea typeface="Red Hat Display Bold"/>
                    <a:cs typeface="Red Hat Display Bold"/>
                    <a:sym typeface="Red Hat Display Bold"/>
                  </a:rPr>
                  <a:t>el</a:t>
                </a:r>
                <a:r>
                  <a:rPr lang="en-US" sz="3200" spc="270" dirty="0">
                    <a:latin typeface="Arial Narrow" panose="020B0606020202030204" pitchFamily="34" charset="0"/>
                    <a:ea typeface="Red Hat Display Bold"/>
                    <a:cs typeface="Red Hat Display Bold"/>
                    <a:sym typeface="Red Hat Display Bold"/>
                  </a:rPr>
                  <a:t> </a:t>
                </a:r>
                <a:r>
                  <a:rPr lang="en-US" sz="3200" spc="270" dirty="0" err="1">
                    <a:latin typeface="Arial Narrow" panose="020B0606020202030204" pitchFamily="34" charset="0"/>
                    <a:ea typeface="Red Hat Display Bold"/>
                    <a:cs typeface="Red Hat Display Bold"/>
                    <a:sym typeface="Red Hat Display Bold"/>
                  </a:rPr>
                  <a:t>Profesor</a:t>
                </a:r>
                <a:r>
                  <a:rPr lang="en-US" sz="3200" spc="270" dirty="0">
                    <a:latin typeface="Arial Narrow" panose="020B0606020202030204" pitchFamily="34" charset="0"/>
                    <a:ea typeface="Red Hat Display Bold"/>
                    <a:cs typeface="Red Hat Display Bold"/>
                    <a:sym typeface="Red Hat Display Bold"/>
                  </a:rPr>
                  <a:t> Richard Sutton, </a:t>
                </a:r>
                <a:r>
                  <a:rPr lang="en-US" sz="3200" spc="270" dirty="0" err="1">
                    <a:latin typeface="Arial Narrow" panose="020B0606020202030204" pitchFamily="34" charset="0"/>
                    <a:ea typeface="Red Hat Display Bold"/>
                    <a:cs typeface="Red Hat Display Bold"/>
                    <a:sym typeface="Red Hat Display Bold"/>
                  </a:rPr>
                  <a:t>pionero</a:t>
                </a:r>
                <a:r>
                  <a:rPr lang="en-US" sz="3200" spc="270" dirty="0">
                    <a:latin typeface="Arial Narrow" panose="020B0606020202030204" pitchFamily="34" charset="0"/>
                    <a:ea typeface="Red Hat Display Bold"/>
                    <a:cs typeface="Red Hat Display Bold"/>
                    <a:sym typeface="Red Hat Display Bold"/>
                  </a:rPr>
                  <a:t> del </a:t>
                </a:r>
                <a:r>
                  <a:rPr lang="en-US" sz="3200" spc="270" dirty="0" err="1">
                    <a:latin typeface="Arial Narrow" panose="020B0606020202030204" pitchFamily="34" charset="0"/>
                    <a:ea typeface="Red Hat Display Bold"/>
                    <a:cs typeface="Red Hat Display Bold"/>
                    <a:sym typeface="Red Hat Display Bold"/>
                  </a:rPr>
                  <a:t>aprendizaje</a:t>
                </a:r>
                <a:r>
                  <a:rPr lang="en-US" sz="3200" spc="270" dirty="0">
                    <a:latin typeface="Arial Narrow" panose="020B0606020202030204" pitchFamily="34" charset="0"/>
                    <a:ea typeface="Red Hat Display Bold"/>
                    <a:cs typeface="Red Hat Display Bold"/>
                    <a:sym typeface="Red Hat Display Bold"/>
                  </a:rPr>
                  <a:t> por </a:t>
                </a:r>
                <a:r>
                  <a:rPr lang="en-US" sz="3200" spc="270" dirty="0" err="1">
                    <a:latin typeface="Arial Narrow" panose="020B0606020202030204" pitchFamily="34" charset="0"/>
                    <a:ea typeface="Red Hat Display Bold"/>
                    <a:cs typeface="Red Hat Display Bold"/>
                    <a:sym typeface="Red Hat Display Bold"/>
                  </a:rPr>
                  <a:t>refuerzo</a:t>
                </a:r>
                <a:r>
                  <a:rPr lang="en-US" sz="3200" spc="270" dirty="0">
                    <a:latin typeface="Arial Narrow" panose="020B0606020202030204" pitchFamily="34" charset="0"/>
                    <a:ea typeface="Red Hat Display Bold"/>
                    <a:cs typeface="Red Hat Display Bold"/>
                    <a:sym typeface="Red Hat Display Bold"/>
                  </a:rPr>
                  <a:t> a </a:t>
                </a:r>
                <a:r>
                  <a:rPr lang="en-US" sz="3200" spc="270" dirty="0" err="1">
                    <a:latin typeface="Arial Narrow" panose="020B0606020202030204" pitchFamily="34" charset="0"/>
                    <a:ea typeface="Red Hat Display Bold"/>
                    <a:cs typeface="Red Hat Display Bold"/>
                    <a:sym typeface="Red Hat Display Bold"/>
                  </a:rPr>
                  <a:t>nivel</a:t>
                </a:r>
                <a:r>
                  <a:rPr lang="en-US" sz="3200" spc="270" dirty="0">
                    <a:latin typeface="Arial Narrow" panose="020B0606020202030204" pitchFamily="34" charset="0"/>
                    <a:ea typeface="Red Hat Display Bold"/>
                    <a:cs typeface="Red Hat Display Bold"/>
                    <a:sym typeface="Red Hat Display Bold"/>
                  </a:rPr>
                  <a:t> </a:t>
                </a:r>
                <a:r>
                  <a:rPr lang="en-US" sz="3200" spc="270" dirty="0" err="1">
                    <a:latin typeface="Arial Narrow" panose="020B0606020202030204" pitchFamily="34" charset="0"/>
                    <a:ea typeface="Red Hat Display Bold"/>
                    <a:cs typeface="Red Hat Display Bold"/>
                    <a:sym typeface="Red Hat Display Bold"/>
                  </a:rPr>
                  <a:t>mundial</a:t>
                </a:r>
                <a:r>
                  <a:rPr lang="en-US" sz="3200" spc="270" dirty="0">
                    <a:latin typeface="Arial Narrow" panose="020B0606020202030204" pitchFamily="34" charset="0"/>
                    <a:ea typeface="Red Hat Display Bold"/>
                    <a:cs typeface="Red Hat Display Bold"/>
                    <a:sym typeface="Red Hat Display Bold"/>
                  </a:rPr>
                  <a:t>, </a:t>
                </a:r>
                <a:r>
                  <a:rPr lang="en-US" sz="3200" spc="270" dirty="0" err="1">
                    <a:latin typeface="Arial Narrow" panose="020B0606020202030204" pitchFamily="34" charset="0"/>
                    <a:ea typeface="Red Hat Display Bold"/>
                    <a:cs typeface="Red Hat Display Bold"/>
                    <a:sym typeface="Red Hat Display Bold"/>
                  </a:rPr>
                  <a:t>cuyo</a:t>
                </a:r>
                <a:r>
                  <a:rPr lang="en-US" sz="3200" spc="270" dirty="0">
                    <a:latin typeface="Arial Narrow" panose="020B0606020202030204" pitchFamily="34" charset="0"/>
                    <a:ea typeface="Red Hat Display Bold"/>
                    <a:cs typeface="Red Hat Display Bold"/>
                    <a:sym typeface="Red Hat Display Bold"/>
                  </a:rPr>
                  <a:t> </a:t>
                </a:r>
                <a:r>
                  <a:rPr lang="en-US" sz="3200" spc="270" dirty="0" err="1">
                    <a:latin typeface="Arial Narrow" panose="020B0606020202030204" pitchFamily="34" charset="0"/>
                    <a:ea typeface="Red Hat Display Bold"/>
                    <a:cs typeface="Red Hat Display Bold"/>
                    <a:sym typeface="Red Hat Display Bold"/>
                  </a:rPr>
                  <a:t>análisis</a:t>
                </a:r>
                <a:r>
                  <a:rPr lang="en-US" sz="3200" spc="270" dirty="0">
                    <a:latin typeface="Arial Narrow" panose="020B0606020202030204" pitchFamily="34" charset="0"/>
                    <a:ea typeface="Red Hat Display Bold"/>
                    <a:cs typeface="Red Hat Display Bold"/>
                    <a:sym typeface="Red Hat Display Bold"/>
                  </a:rPr>
                  <a:t> se </a:t>
                </a:r>
                <a:r>
                  <a:rPr lang="en-US" sz="3200" spc="270" dirty="0" err="1">
                    <a:latin typeface="Arial Narrow" panose="020B0606020202030204" pitchFamily="34" charset="0"/>
                    <a:ea typeface="Red Hat Display Bold"/>
                    <a:cs typeface="Red Hat Display Bold"/>
                    <a:sym typeface="Red Hat Display Bold"/>
                  </a:rPr>
                  <a:t>presenta</a:t>
                </a:r>
                <a:r>
                  <a:rPr lang="en-US" sz="3200" spc="270" dirty="0">
                    <a:latin typeface="Arial Narrow" panose="020B0606020202030204" pitchFamily="34" charset="0"/>
                    <a:ea typeface="Red Hat Display Bold"/>
                    <a:cs typeface="Red Hat Display Bold"/>
                    <a:sym typeface="Red Hat Display Bold"/>
                  </a:rPr>
                  <a:t> </a:t>
                </a:r>
                <a:r>
                  <a:rPr lang="en-US" sz="3200" spc="270" dirty="0" err="1">
                    <a:latin typeface="Arial Narrow" panose="020B0606020202030204" pitchFamily="34" charset="0"/>
                    <a:ea typeface="Red Hat Display Bold"/>
                    <a:cs typeface="Red Hat Display Bold"/>
                    <a:sym typeface="Red Hat Display Bold"/>
                  </a:rPr>
                  <a:t>en</a:t>
                </a:r>
                <a:r>
                  <a:rPr lang="en-US" sz="3200" spc="270" dirty="0">
                    <a:latin typeface="Arial Narrow" panose="020B0606020202030204" pitchFamily="34" charset="0"/>
                    <a:ea typeface="Red Hat Display Bold"/>
                    <a:cs typeface="Red Hat Display Bold"/>
                    <a:sym typeface="Red Hat Display Bold"/>
                  </a:rPr>
                  <a:t> https://www.youtube.com/watch?v=vsqKGZT8Qn8.</a:t>
                </a:r>
                <a:endParaRPr lang="en-US" sz="3600" spc="270" dirty="0">
                  <a:latin typeface="Arial Narrow" panose="020B0606020202030204" pitchFamily="34" charset="0"/>
                  <a:ea typeface="Red Hat Display Bold"/>
                  <a:cs typeface="Red Hat Display Bold"/>
                  <a:sym typeface="Red Hat Display Bold"/>
                </a:endParaRPr>
              </a:p>
            </p:txBody>
          </p:sp>
        </mc:Choice>
        <mc:Fallback xmlns="">
          <p:sp>
            <p:nvSpPr>
              <p:cNvPr id="12" name="TextBox 5">
                <a:extLst>
                  <a:ext uri="{FF2B5EF4-FFF2-40B4-BE49-F238E27FC236}">
                    <a16:creationId xmlns:a16="http://schemas.microsoft.com/office/drawing/2014/main" id="{C72AD935-45CE-472B-AA7D-E43FDEE6A9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7100" y="2547629"/>
                <a:ext cx="11353800" cy="5191742"/>
              </a:xfrm>
              <a:prstGeom prst="rect">
                <a:avLst/>
              </a:prstGeom>
              <a:blipFill>
                <a:blip r:embed="rId2"/>
                <a:stretch>
                  <a:fillRect l="-2202" t="-1761" r="-2202" b="-375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52366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1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17D510DE-163F-4FE9-BFED-FFA3D75846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251" y="447019"/>
            <a:ext cx="17185498" cy="9392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3260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1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53E6EC78-FD08-4AEB-9F2B-C2E7EF5E53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645" y="280309"/>
            <a:ext cx="17080709" cy="9726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3205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1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8CE0357-43C3-4DCE-B707-352AC9551C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355" y="261256"/>
            <a:ext cx="17833289" cy="9764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2769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1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FCB585C1-F432-4ABC-BA01-54E0E21D42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171" y="418440"/>
            <a:ext cx="17423657" cy="9450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5806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1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B89A51A-1628-4B3A-A321-DF181DFDE1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988" y="232677"/>
            <a:ext cx="16652024" cy="9821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0881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1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707F7C3C-1BD3-4DD8-B2EF-4B79AAB8F8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232666"/>
            <a:ext cx="17928248" cy="9863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0165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1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9C169EE9-BE61-475A-B656-777E09F10F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21577"/>
            <a:ext cx="17678400" cy="10051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781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1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48BFF41C-66E6-4EC2-9166-36594845D7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756" y="117006"/>
            <a:ext cx="17527244" cy="10055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100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1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53AC8B2-7618-447C-A66C-6DD1EC8D89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566" y="213624"/>
            <a:ext cx="17318867" cy="9859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1002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1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2">
            <a:extLst>
              <a:ext uri="{FF2B5EF4-FFF2-40B4-BE49-F238E27FC236}">
                <a16:creationId xmlns:a16="http://schemas.microsoft.com/office/drawing/2014/main" id="{8E8777A2-5F54-4C26-B12C-A7C8DB4F0B5D}"/>
              </a:ext>
            </a:extLst>
          </p:cNvPr>
          <p:cNvGrpSpPr/>
          <p:nvPr/>
        </p:nvGrpSpPr>
        <p:grpSpPr>
          <a:xfrm>
            <a:off x="-114336" y="595944"/>
            <a:ext cx="18402336" cy="9095112"/>
            <a:chOff x="0" y="0"/>
            <a:chExt cx="4846706" cy="2395421"/>
          </a:xfrm>
        </p:grpSpPr>
        <p:sp>
          <p:nvSpPr>
            <p:cNvPr id="10" name="Freeform 3">
              <a:extLst>
                <a:ext uri="{FF2B5EF4-FFF2-40B4-BE49-F238E27FC236}">
                  <a16:creationId xmlns:a16="http://schemas.microsoft.com/office/drawing/2014/main" id="{B9E46EB2-D29D-4A78-9692-0263A8A23FDC}"/>
                </a:ext>
              </a:extLst>
            </p:cNvPr>
            <p:cNvSpPr/>
            <p:nvPr/>
          </p:nvSpPr>
          <p:spPr>
            <a:xfrm>
              <a:off x="0" y="0"/>
              <a:ext cx="4846706" cy="2395420"/>
            </a:xfrm>
            <a:custGeom>
              <a:avLst/>
              <a:gdLst/>
              <a:ahLst/>
              <a:cxnLst/>
              <a:rect l="l" t="t" r="r" b="b"/>
              <a:pathLst>
                <a:path w="4846706" h="2395420">
                  <a:moveTo>
                    <a:pt x="0" y="0"/>
                  </a:moveTo>
                  <a:lnTo>
                    <a:pt x="4846706" y="0"/>
                  </a:lnTo>
                  <a:lnTo>
                    <a:pt x="4846706" y="2395420"/>
                  </a:lnTo>
                  <a:lnTo>
                    <a:pt x="0" y="239542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id="11" name="TextBox 4">
              <a:extLst>
                <a:ext uri="{FF2B5EF4-FFF2-40B4-BE49-F238E27FC236}">
                  <a16:creationId xmlns:a16="http://schemas.microsoft.com/office/drawing/2014/main" id="{02EAE962-8488-49E6-B6E0-A95070AB0737}"/>
                </a:ext>
              </a:extLst>
            </p:cNvPr>
            <p:cNvSpPr txBox="1"/>
            <p:nvPr/>
          </p:nvSpPr>
          <p:spPr>
            <a:xfrm>
              <a:off x="0" y="-38100"/>
              <a:ext cx="4846706" cy="24335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5">
            <a:extLst>
              <a:ext uri="{FF2B5EF4-FFF2-40B4-BE49-F238E27FC236}">
                <a16:creationId xmlns:a16="http://schemas.microsoft.com/office/drawing/2014/main" id="{C72AD935-45CE-472B-AA7D-E43FDEE6A91D}"/>
              </a:ext>
            </a:extLst>
          </p:cNvPr>
          <p:cNvSpPr txBox="1"/>
          <p:nvPr/>
        </p:nvSpPr>
        <p:spPr>
          <a:xfrm>
            <a:off x="1219200" y="1028700"/>
            <a:ext cx="16687800" cy="8724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300"/>
              </a:lnSpc>
            </a:pPr>
            <a:r>
              <a:rPr lang="en-US" sz="4800" b="1" i="1" spc="270" dirty="0">
                <a:solidFill>
                  <a:schemeClr val="accent6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Masked Multi-Head Attention</a:t>
            </a:r>
            <a:endParaRPr lang="en-US" sz="5000" b="1" i="1" spc="270" dirty="0">
              <a:solidFill>
                <a:schemeClr val="accent6"/>
              </a:solidFill>
              <a:latin typeface="Red Hat Display Bold"/>
              <a:ea typeface="Red Hat Display Bold"/>
              <a:cs typeface="Red Hat Display Bold"/>
              <a:sym typeface="Red Hat Display Bold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43170ED3-FC9E-42EC-A033-325DE5094015}"/>
              </a:ext>
            </a:extLst>
          </p:cNvPr>
          <p:cNvSpPr txBox="1"/>
          <p:nvPr/>
        </p:nvSpPr>
        <p:spPr>
          <a:xfrm>
            <a:off x="10896600" y="9248775"/>
            <a:ext cx="7086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MX" i="1" dirty="0"/>
              <a:t>Fuente: https://www.kaggle.com/discussions/general/493003</a:t>
            </a:r>
          </a:p>
        </p:txBody>
      </p:sp>
      <p:pic>
        <p:nvPicPr>
          <p:cNvPr id="7172" name="Picture 4">
            <a:extLst>
              <a:ext uri="{FF2B5EF4-FFF2-40B4-BE49-F238E27FC236}">
                <a16:creationId xmlns:a16="http://schemas.microsoft.com/office/drawing/2014/main" id="{193E5024-1CAD-4CC6-9551-86DD7F8D9E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2320" y="3238500"/>
            <a:ext cx="7263360" cy="45396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53056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1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2">
            <a:extLst>
              <a:ext uri="{FF2B5EF4-FFF2-40B4-BE49-F238E27FC236}">
                <a16:creationId xmlns:a16="http://schemas.microsoft.com/office/drawing/2014/main" id="{8E8777A2-5F54-4C26-B12C-A7C8DB4F0B5D}"/>
              </a:ext>
            </a:extLst>
          </p:cNvPr>
          <p:cNvGrpSpPr/>
          <p:nvPr/>
        </p:nvGrpSpPr>
        <p:grpSpPr>
          <a:xfrm>
            <a:off x="-114336" y="595944"/>
            <a:ext cx="18402336" cy="9095112"/>
            <a:chOff x="0" y="0"/>
            <a:chExt cx="4846706" cy="2395421"/>
          </a:xfrm>
        </p:grpSpPr>
        <p:sp>
          <p:nvSpPr>
            <p:cNvPr id="10" name="Freeform 3">
              <a:extLst>
                <a:ext uri="{FF2B5EF4-FFF2-40B4-BE49-F238E27FC236}">
                  <a16:creationId xmlns:a16="http://schemas.microsoft.com/office/drawing/2014/main" id="{B9E46EB2-D29D-4A78-9692-0263A8A23FDC}"/>
                </a:ext>
              </a:extLst>
            </p:cNvPr>
            <p:cNvSpPr/>
            <p:nvPr/>
          </p:nvSpPr>
          <p:spPr>
            <a:xfrm>
              <a:off x="0" y="0"/>
              <a:ext cx="4846706" cy="2395420"/>
            </a:xfrm>
            <a:custGeom>
              <a:avLst/>
              <a:gdLst/>
              <a:ahLst/>
              <a:cxnLst/>
              <a:rect l="l" t="t" r="r" b="b"/>
              <a:pathLst>
                <a:path w="4846706" h="2395420">
                  <a:moveTo>
                    <a:pt x="0" y="0"/>
                  </a:moveTo>
                  <a:lnTo>
                    <a:pt x="4846706" y="0"/>
                  </a:lnTo>
                  <a:lnTo>
                    <a:pt x="4846706" y="2395420"/>
                  </a:lnTo>
                  <a:lnTo>
                    <a:pt x="0" y="239542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id="11" name="TextBox 4">
              <a:extLst>
                <a:ext uri="{FF2B5EF4-FFF2-40B4-BE49-F238E27FC236}">
                  <a16:creationId xmlns:a16="http://schemas.microsoft.com/office/drawing/2014/main" id="{02EAE962-8488-49E6-B6E0-A95070AB0737}"/>
                </a:ext>
              </a:extLst>
            </p:cNvPr>
            <p:cNvSpPr txBox="1"/>
            <p:nvPr/>
          </p:nvSpPr>
          <p:spPr>
            <a:xfrm>
              <a:off x="0" y="-38100"/>
              <a:ext cx="4846706" cy="24335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5">
            <a:extLst>
              <a:ext uri="{FF2B5EF4-FFF2-40B4-BE49-F238E27FC236}">
                <a16:creationId xmlns:a16="http://schemas.microsoft.com/office/drawing/2014/main" id="{C72AD935-45CE-472B-AA7D-E43FDEE6A91D}"/>
              </a:ext>
            </a:extLst>
          </p:cNvPr>
          <p:cNvSpPr txBox="1"/>
          <p:nvPr/>
        </p:nvSpPr>
        <p:spPr>
          <a:xfrm>
            <a:off x="266700" y="1028700"/>
            <a:ext cx="17754600" cy="8724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300"/>
              </a:lnSpc>
            </a:pPr>
            <a:r>
              <a:rPr lang="en-US" sz="4800" b="1" cap="small" spc="270" dirty="0" err="1">
                <a:latin typeface="Red Hat Display Bold"/>
                <a:ea typeface="Red Hat Display Bold"/>
                <a:cs typeface="Red Hat Display Bold"/>
                <a:sym typeface="Red Hat Display Bold"/>
              </a:rPr>
              <a:t>Problema</a:t>
            </a:r>
            <a:r>
              <a:rPr lang="en-US" sz="4800" b="1" cap="small" spc="270" dirty="0">
                <a:latin typeface="Red Hat Display Bold"/>
                <a:ea typeface="Red Hat Display Bold"/>
                <a:cs typeface="Red Hat Display Bold"/>
                <a:sym typeface="Red Hat Display Bold"/>
              </a:rPr>
              <a:t> con </a:t>
            </a:r>
            <a:r>
              <a:rPr lang="en-US" sz="4800" b="1" cap="small" spc="270" dirty="0" err="1">
                <a:latin typeface="Red Hat Display Bold"/>
                <a:ea typeface="Red Hat Display Bold"/>
                <a:cs typeface="Red Hat Display Bold"/>
                <a:sym typeface="Red Hat Display Bold"/>
              </a:rPr>
              <a:t>el</a:t>
            </a:r>
            <a:r>
              <a:rPr lang="en-US" sz="4800" b="1" i="1" cap="small" spc="270" dirty="0" err="1">
                <a:solidFill>
                  <a:schemeClr val="accent6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Visual</a:t>
            </a:r>
            <a:r>
              <a:rPr lang="en-US" sz="4800" b="1" i="1" cap="small" spc="270" dirty="0">
                <a:solidFill>
                  <a:schemeClr val="accent6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Transformer</a:t>
            </a:r>
            <a:r>
              <a:rPr lang="en-US" sz="4800" cap="small" spc="270" dirty="0">
                <a:latin typeface="Red Hat Display Bold"/>
                <a:ea typeface="Red Hat Display Bold"/>
                <a:cs typeface="Red Hat Display Bold"/>
                <a:sym typeface="Red Hat Display Bold"/>
              </a:rPr>
              <a:t> (</a:t>
            </a:r>
            <a:r>
              <a:rPr lang="en-US" sz="4800" cap="small" spc="270" dirty="0" err="1">
                <a:latin typeface="Red Hat Display Bold"/>
                <a:ea typeface="Red Hat Display Bold"/>
                <a:cs typeface="Red Hat Display Bold"/>
                <a:sym typeface="Red Hat Display Bold"/>
              </a:rPr>
              <a:t>ViT</a:t>
            </a:r>
            <a:r>
              <a:rPr lang="en-US" sz="4800" cap="small" spc="270" dirty="0">
                <a:latin typeface="Red Hat Display Bold"/>
                <a:ea typeface="Red Hat Display Bold"/>
                <a:cs typeface="Red Hat Display Bold"/>
                <a:sym typeface="Red Hat Display Bold"/>
              </a:rPr>
              <a:t>)</a:t>
            </a:r>
            <a:endParaRPr lang="en-US" sz="5000" spc="270" dirty="0">
              <a:latin typeface="Red Hat Display Bold"/>
              <a:ea typeface="Red Hat Display Bold"/>
              <a:cs typeface="Red Hat Display Bold"/>
              <a:sym typeface="Red Hat Display Bold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43170ED3-FC9E-42EC-A033-325DE5094015}"/>
              </a:ext>
            </a:extLst>
          </p:cNvPr>
          <p:cNvSpPr txBox="1"/>
          <p:nvPr/>
        </p:nvSpPr>
        <p:spPr>
          <a:xfrm>
            <a:off x="5410200" y="9248775"/>
            <a:ext cx="1257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MX" i="1" dirty="0"/>
              <a:t>Fuente: https://www.researchgate.net/figure/Comparison-between-swin-transformer-and-Vision-Transformer-ViT_fig5_378595524</a:t>
            </a:r>
          </a:p>
        </p:txBody>
      </p:sp>
      <p:pic>
        <p:nvPicPr>
          <p:cNvPr id="1030" name="Picture 6" descr="Comparison between swin transformer and Vision Transformer (ViT)">
            <a:extLst>
              <a:ext uri="{FF2B5EF4-FFF2-40B4-BE49-F238E27FC236}">
                <a16:creationId xmlns:a16="http://schemas.microsoft.com/office/drawing/2014/main" id="{90B776BE-395F-4041-B438-B50EC3EC4D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8707" y="3497526"/>
            <a:ext cx="8096250" cy="51149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60190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1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2">
            <a:extLst>
              <a:ext uri="{FF2B5EF4-FFF2-40B4-BE49-F238E27FC236}">
                <a16:creationId xmlns:a16="http://schemas.microsoft.com/office/drawing/2014/main" id="{8E8777A2-5F54-4C26-B12C-A7C8DB4F0B5D}"/>
              </a:ext>
            </a:extLst>
          </p:cNvPr>
          <p:cNvGrpSpPr/>
          <p:nvPr/>
        </p:nvGrpSpPr>
        <p:grpSpPr>
          <a:xfrm>
            <a:off x="-114336" y="595944"/>
            <a:ext cx="18402336" cy="9095112"/>
            <a:chOff x="0" y="0"/>
            <a:chExt cx="4846706" cy="2395421"/>
          </a:xfrm>
        </p:grpSpPr>
        <p:sp>
          <p:nvSpPr>
            <p:cNvPr id="10" name="Freeform 3">
              <a:extLst>
                <a:ext uri="{FF2B5EF4-FFF2-40B4-BE49-F238E27FC236}">
                  <a16:creationId xmlns:a16="http://schemas.microsoft.com/office/drawing/2014/main" id="{B9E46EB2-D29D-4A78-9692-0263A8A23FDC}"/>
                </a:ext>
              </a:extLst>
            </p:cNvPr>
            <p:cNvSpPr/>
            <p:nvPr/>
          </p:nvSpPr>
          <p:spPr>
            <a:xfrm>
              <a:off x="0" y="0"/>
              <a:ext cx="4846706" cy="2395420"/>
            </a:xfrm>
            <a:custGeom>
              <a:avLst/>
              <a:gdLst/>
              <a:ahLst/>
              <a:cxnLst/>
              <a:rect l="l" t="t" r="r" b="b"/>
              <a:pathLst>
                <a:path w="4846706" h="2395420">
                  <a:moveTo>
                    <a:pt x="0" y="0"/>
                  </a:moveTo>
                  <a:lnTo>
                    <a:pt x="4846706" y="0"/>
                  </a:lnTo>
                  <a:lnTo>
                    <a:pt x="4846706" y="2395420"/>
                  </a:lnTo>
                  <a:lnTo>
                    <a:pt x="0" y="239542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id="11" name="TextBox 4">
              <a:extLst>
                <a:ext uri="{FF2B5EF4-FFF2-40B4-BE49-F238E27FC236}">
                  <a16:creationId xmlns:a16="http://schemas.microsoft.com/office/drawing/2014/main" id="{02EAE962-8488-49E6-B6E0-A95070AB0737}"/>
                </a:ext>
              </a:extLst>
            </p:cNvPr>
            <p:cNvSpPr txBox="1"/>
            <p:nvPr/>
          </p:nvSpPr>
          <p:spPr>
            <a:xfrm>
              <a:off x="0" y="-38100"/>
              <a:ext cx="4846706" cy="24335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CuadroTexto 1">
            <a:extLst>
              <a:ext uri="{FF2B5EF4-FFF2-40B4-BE49-F238E27FC236}">
                <a16:creationId xmlns:a16="http://schemas.microsoft.com/office/drawing/2014/main" id="{43170ED3-FC9E-42EC-A033-325DE5094015}"/>
              </a:ext>
            </a:extLst>
          </p:cNvPr>
          <p:cNvSpPr txBox="1"/>
          <p:nvPr/>
        </p:nvSpPr>
        <p:spPr>
          <a:xfrm>
            <a:off x="10896600" y="9248775"/>
            <a:ext cx="7086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MX" i="1" dirty="0"/>
              <a:t>Fuente</a:t>
            </a:r>
            <a:r>
              <a:rPr lang="es-MX" i="1"/>
              <a:t>: https://github.com/rishigami/Swin-Transformer-TF</a:t>
            </a:r>
            <a:endParaRPr lang="es-MX" i="1" dirty="0"/>
          </a:p>
        </p:txBody>
      </p:sp>
      <p:pic>
        <p:nvPicPr>
          <p:cNvPr id="8194" name="Picture 2" descr="GitHub - rishigami/Swin-Transformer-TF: Tensorflow implementation of Swin  Transformer model.">
            <a:extLst>
              <a:ext uri="{FF2B5EF4-FFF2-40B4-BE49-F238E27FC236}">
                <a16:creationId xmlns:a16="http://schemas.microsoft.com/office/drawing/2014/main" id="{B46AE629-5160-4C74-A484-26C1D87A2DA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2423"/>
          <a:stretch/>
        </p:blipFill>
        <p:spPr bwMode="auto">
          <a:xfrm>
            <a:off x="-76200" y="3330574"/>
            <a:ext cx="18288000" cy="4784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5">
            <a:extLst>
              <a:ext uri="{FF2B5EF4-FFF2-40B4-BE49-F238E27FC236}">
                <a16:creationId xmlns:a16="http://schemas.microsoft.com/office/drawing/2014/main" id="{8B6BC44D-8889-4622-B529-1BD287419FEE}"/>
              </a:ext>
            </a:extLst>
          </p:cNvPr>
          <p:cNvSpPr txBox="1"/>
          <p:nvPr/>
        </p:nvSpPr>
        <p:spPr>
          <a:xfrm>
            <a:off x="266700" y="1028700"/>
            <a:ext cx="17754600" cy="17944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300"/>
              </a:lnSpc>
            </a:pPr>
            <a:r>
              <a:rPr lang="en-US" sz="4800" b="1" i="1" cap="small" spc="270" dirty="0" err="1">
                <a:solidFill>
                  <a:schemeClr val="accent6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Swin</a:t>
            </a:r>
            <a:r>
              <a:rPr lang="en-US" sz="4800" b="1" i="1" cap="small" spc="270" dirty="0">
                <a:solidFill>
                  <a:schemeClr val="accent6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Transformer</a:t>
            </a:r>
            <a:endParaRPr lang="en-US" sz="4800" cap="small" spc="270" dirty="0">
              <a:latin typeface="Red Hat Display Bold"/>
              <a:ea typeface="Red Hat Display Bold"/>
              <a:cs typeface="Red Hat Display Bold"/>
              <a:sym typeface="Red Hat Display Bold"/>
            </a:endParaRPr>
          </a:p>
          <a:p>
            <a:pPr lvl="1">
              <a:lnSpc>
                <a:spcPts val="7300"/>
              </a:lnSpc>
            </a:pPr>
            <a:r>
              <a:rPr lang="en-US" sz="4400" i="1" spc="270" dirty="0">
                <a:latin typeface="Red Hat Display Bold"/>
                <a:ea typeface="Red Hat Display Bold"/>
                <a:cs typeface="Red Hat Display Bold"/>
                <a:sym typeface="Red Hat Display Bold"/>
              </a:rPr>
              <a:t>Hierarchical Vision Transformer using Shifted Windows</a:t>
            </a:r>
            <a:endParaRPr lang="en-US" sz="5000" b="1" i="1" spc="270" dirty="0">
              <a:solidFill>
                <a:schemeClr val="accent6"/>
              </a:solidFill>
              <a:latin typeface="Red Hat Display Bold"/>
              <a:ea typeface="Red Hat Display Bold"/>
              <a:cs typeface="Red Hat Display Bold"/>
              <a:sym typeface="Red Hat Display Bold"/>
            </a:endParaRPr>
          </a:p>
        </p:txBody>
      </p:sp>
    </p:spTree>
    <p:extLst>
      <p:ext uri="{BB962C8B-B14F-4D97-AF65-F5344CB8AC3E}">
        <p14:creationId xmlns:p14="http://schemas.microsoft.com/office/powerpoint/2010/main" val="32837899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1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2">
            <a:extLst>
              <a:ext uri="{FF2B5EF4-FFF2-40B4-BE49-F238E27FC236}">
                <a16:creationId xmlns:a16="http://schemas.microsoft.com/office/drawing/2014/main" id="{8E8777A2-5F54-4C26-B12C-A7C8DB4F0B5D}"/>
              </a:ext>
            </a:extLst>
          </p:cNvPr>
          <p:cNvGrpSpPr/>
          <p:nvPr/>
        </p:nvGrpSpPr>
        <p:grpSpPr>
          <a:xfrm>
            <a:off x="-114336" y="510219"/>
            <a:ext cx="18402336" cy="9095112"/>
            <a:chOff x="0" y="0"/>
            <a:chExt cx="4846706" cy="2395421"/>
          </a:xfrm>
        </p:grpSpPr>
        <p:sp>
          <p:nvSpPr>
            <p:cNvPr id="10" name="Freeform 3">
              <a:extLst>
                <a:ext uri="{FF2B5EF4-FFF2-40B4-BE49-F238E27FC236}">
                  <a16:creationId xmlns:a16="http://schemas.microsoft.com/office/drawing/2014/main" id="{B9E46EB2-D29D-4A78-9692-0263A8A23FDC}"/>
                </a:ext>
              </a:extLst>
            </p:cNvPr>
            <p:cNvSpPr/>
            <p:nvPr/>
          </p:nvSpPr>
          <p:spPr>
            <a:xfrm>
              <a:off x="0" y="0"/>
              <a:ext cx="4846706" cy="2395420"/>
            </a:xfrm>
            <a:custGeom>
              <a:avLst/>
              <a:gdLst/>
              <a:ahLst/>
              <a:cxnLst/>
              <a:rect l="l" t="t" r="r" b="b"/>
              <a:pathLst>
                <a:path w="4846706" h="2395420">
                  <a:moveTo>
                    <a:pt x="0" y="0"/>
                  </a:moveTo>
                  <a:lnTo>
                    <a:pt x="4846706" y="0"/>
                  </a:lnTo>
                  <a:lnTo>
                    <a:pt x="4846706" y="2395420"/>
                  </a:lnTo>
                  <a:lnTo>
                    <a:pt x="0" y="239542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id="11" name="TextBox 4">
              <a:extLst>
                <a:ext uri="{FF2B5EF4-FFF2-40B4-BE49-F238E27FC236}">
                  <a16:creationId xmlns:a16="http://schemas.microsoft.com/office/drawing/2014/main" id="{02EAE962-8488-49E6-B6E0-A95070AB0737}"/>
                </a:ext>
              </a:extLst>
            </p:cNvPr>
            <p:cNvSpPr txBox="1"/>
            <p:nvPr/>
          </p:nvSpPr>
          <p:spPr>
            <a:xfrm>
              <a:off x="0" y="-38100"/>
              <a:ext cx="4846706" cy="24335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5">
            <a:extLst>
              <a:ext uri="{FF2B5EF4-FFF2-40B4-BE49-F238E27FC236}">
                <a16:creationId xmlns:a16="http://schemas.microsoft.com/office/drawing/2014/main" id="{C72AD935-45CE-472B-AA7D-E43FDEE6A91D}"/>
              </a:ext>
            </a:extLst>
          </p:cNvPr>
          <p:cNvSpPr txBox="1"/>
          <p:nvPr/>
        </p:nvSpPr>
        <p:spPr>
          <a:xfrm>
            <a:off x="1219200" y="1028700"/>
            <a:ext cx="16687800" cy="8724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300"/>
              </a:lnSpc>
            </a:pPr>
            <a:r>
              <a:rPr lang="en-US" sz="4800" b="1" i="1" cap="small" spc="270" dirty="0" err="1">
                <a:solidFill>
                  <a:schemeClr val="accent6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Swin</a:t>
            </a:r>
            <a:r>
              <a:rPr lang="en-US" sz="4800" b="1" i="1" cap="small" spc="270" dirty="0">
                <a:solidFill>
                  <a:schemeClr val="accent6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Transformer</a:t>
            </a:r>
            <a:endParaRPr lang="en-US" sz="5000" b="1" i="1" cap="small" spc="270" dirty="0">
              <a:solidFill>
                <a:schemeClr val="accent6"/>
              </a:solidFill>
              <a:latin typeface="Red Hat Display Bold"/>
              <a:ea typeface="Red Hat Display Bold"/>
              <a:cs typeface="Red Hat Display Bold"/>
              <a:sym typeface="Red Hat Display Bold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43170ED3-FC9E-42EC-A033-325DE5094015}"/>
              </a:ext>
            </a:extLst>
          </p:cNvPr>
          <p:cNvSpPr txBox="1"/>
          <p:nvPr/>
        </p:nvSpPr>
        <p:spPr>
          <a:xfrm>
            <a:off x="10896600" y="9248775"/>
            <a:ext cx="7086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MX" i="1" dirty="0"/>
              <a:t>Fuente</a:t>
            </a:r>
            <a:r>
              <a:rPr lang="es-MX" i="1"/>
              <a:t>: https://github.com/rishigami/Swin-Transformer-TF</a:t>
            </a:r>
            <a:endParaRPr lang="es-MX" i="1" dirty="0"/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96FF5D26-07AA-4A3D-B684-CFE5D556EA14}"/>
              </a:ext>
            </a:extLst>
          </p:cNvPr>
          <p:cNvSpPr txBox="1"/>
          <p:nvPr/>
        </p:nvSpPr>
        <p:spPr>
          <a:xfrm>
            <a:off x="2324100" y="2862214"/>
            <a:ext cx="12153900" cy="39576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400" b="1" i="0" dirty="0">
                <a:solidFill>
                  <a:srgbClr val="001D35"/>
                </a:solidFill>
                <a:effectLst/>
                <a:latin typeface="Google Sans"/>
              </a:rPr>
              <a:t> </a:t>
            </a:r>
            <a:r>
              <a:rPr lang="en-US" sz="4400" b="1" i="0" dirty="0" err="1">
                <a:solidFill>
                  <a:srgbClr val="001D35"/>
                </a:solidFill>
                <a:effectLst/>
                <a:latin typeface="Google Sans"/>
              </a:rPr>
              <a:t>Swin</a:t>
            </a:r>
            <a:r>
              <a:rPr lang="en-US" sz="4400" b="1" i="0" dirty="0">
                <a:solidFill>
                  <a:srgbClr val="001D35"/>
                </a:solidFill>
                <a:effectLst/>
                <a:latin typeface="Google Sans"/>
              </a:rPr>
              <a:t>-T (Tiny):</a:t>
            </a:r>
            <a:r>
              <a:rPr lang="en-US" sz="4400" b="0" i="0" dirty="0">
                <a:solidFill>
                  <a:srgbClr val="001D35"/>
                </a:solidFill>
                <a:effectLst/>
                <a:latin typeface="Google Sans"/>
              </a:rPr>
              <a:t> 28 </a:t>
            </a:r>
            <a:r>
              <a:rPr lang="en-US" sz="4400" b="0" i="0" dirty="0" err="1">
                <a:solidFill>
                  <a:srgbClr val="001D35"/>
                </a:solidFill>
                <a:effectLst/>
                <a:latin typeface="Google Sans"/>
              </a:rPr>
              <a:t>millones</a:t>
            </a:r>
            <a:r>
              <a:rPr lang="en-US" sz="4400" b="0" i="0" dirty="0">
                <a:solidFill>
                  <a:srgbClr val="001D35"/>
                </a:solidFill>
                <a:effectLst/>
                <a:latin typeface="Google Sans"/>
              </a:rPr>
              <a:t> de </a:t>
            </a:r>
            <a:r>
              <a:rPr lang="en-US" sz="4400" b="0" i="0" dirty="0" err="1">
                <a:solidFill>
                  <a:srgbClr val="001D35"/>
                </a:solidFill>
                <a:effectLst/>
                <a:latin typeface="Google Sans"/>
              </a:rPr>
              <a:t>parámetros</a:t>
            </a:r>
            <a:r>
              <a:rPr lang="en-US" sz="4400" b="0" i="0" dirty="0">
                <a:solidFill>
                  <a:srgbClr val="001D35"/>
                </a:solidFill>
                <a:effectLst/>
                <a:latin typeface="Google Sans"/>
              </a:rPr>
              <a:t>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400" b="1" i="0" dirty="0">
                <a:solidFill>
                  <a:srgbClr val="001D35"/>
                </a:solidFill>
                <a:effectLst/>
                <a:latin typeface="Google Sans"/>
              </a:rPr>
              <a:t> </a:t>
            </a:r>
            <a:r>
              <a:rPr lang="en-US" sz="4400" b="1" i="0" dirty="0" err="1">
                <a:solidFill>
                  <a:srgbClr val="001D35"/>
                </a:solidFill>
                <a:effectLst/>
                <a:latin typeface="Google Sans"/>
              </a:rPr>
              <a:t>Swin</a:t>
            </a:r>
            <a:r>
              <a:rPr lang="en-US" sz="4400" b="1" i="0" dirty="0">
                <a:solidFill>
                  <a:srgbClr val="001D35"/>
                </a:solidFill>
                <a:effectLst/>
                <a:latin typeface="Google Sans"/>
              </a:rPr>
              <a:t>-S (Small):</a:t>
            </a:r>
            <a:r>
              <a:rPr lang="en-US" sz="4400" b="0" i="0" dirty="0">
                <a:solidFill>
                  <a:srgbClr val="001D35"/>
                </a:solidFill>
                <a:effectLst/>
                <a:latin typeface="Google Sans"/>
              </a:rPr>
              <a:t> 50 </a:t>
            </a:r>
            <a:r>
              <a:rPr lang="en-US" sz="4400" b="0" i="0" dirty="0" err="1">
                <a:solidFill>
                  <a:srgbClr val="001D35"/>
                </a:solidFill>
                <a:effectLst/>
                <a:latin typeface="Google Sans"/>
              </a:rPr>
              <a:t>millones</a:t>
            </a:r>
            <a:r>
              <a:rPr lang="en-US" sz="4400" b="0" i="0" dirty="0">
                <a:solidFill>
                  <a:srgbClr val="001D35"/>
                </a:solidFill>
                <a:effectLst/>
                <a:latin typeface="Google Sans"/>
              </a:rPr>
              <a:t> de </a:t>
            </a:r>
            <a:r>
              <a:rPr lang="en-US" sz="4400" b="0" i="0" dirty="0" err="1">
                <a:solidFill>
                  <a:srgbClr val="001D35"/>
                </a:solidFill>
                <a:effectLst/>
                <a:latin typeface="Google Sans"/>
              </a:rPr>
              <a:t>parámetros</a:t>
            </a:r>
            <a:r>
              <a:rPr lang="en-US" sz="4400" b="0" i="0" dirty="0">
                <a:solidFill>
                  <a:srgbClr val="001D35"/>
                </a:solidFill>
                <a:effectLst/>
                <a:latin typeface="Google Sans"/>
              </a:rPr>
              <a:t>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400" b="1" i="0" dirty="0">
                <a:solidFill>
                  <a:srgbClr val="001D35"/>
                </a:solidFill>
                <a:effectLst/>
                <a:latin typeface="Google Sans"/>
              </a:rPr>
              <a:t> </a:t>
            </a:r>
            <a:r>
              <a:rPr lang="en-US" sz="4400" b="1" i="0" dirty="0" err="1">
                <a:solidFill>
                  <a:srgbClr val="001D35"/>
                </a:solidFill>
                <a:effectLst/>
                <a:latin typeface="Google Sans"/>
              </a:rPr>
              <a:t>Swin</a:t>
            </a:r>
            <a:r>
              <a:rPr lang="en-US" sz="4400" b="1" i="0" dirty="0">
                <a:solidFill>
                  <a:srgbClr val="001D35"/>
                </a:solidFill>
                <a:effectLst/>
                <a:latin typeface="Google Sans"/>
              </a:rPr>
              <a:t>-B (Base):</a:t>
            </a:r>
            <a:r>
              <a:rPr lang="en-US" sz="4400" b="0" i="0" dirty="0">
                <a:solidFill>
                  <a:srgbClr val="001D35"/>
                </a:solidFill>
                <a:effectLst/>
                <a:latin typeface="Google Sans"/>
              </a:rPr>
              <a:t> 88 </a:t>
            </a:r>
            <a:r>
              <a:rPr lang="en-US" sz="4400" b="0" i="0" dirty="0" err="1">
                <a:solidFill>
                  <a:srgbClr val="001D35"/>
                </a:solidFill>
                <a:effectLst/>
                <a:latin typeface="Google Sans"/>
              </a:rPr>
              <a:t>millones</a:t>
            </a:r>
            <a:r>
              <a:rPr lang="en-US" sz="4400" b="0" i="0" dirty="0">
                <a:solidFill>
                  <a:srgbClr val="001D35"/>
                </a:solidFill>
                <a:effectLst/>
                <a:latin typeface="Google Sans"/>
              </a:rPr>
              <a:t> de </a:t>
            </a:r>
            <a:r>
              <a:rPr lang="en-US" sz="4400" b="0" i="0" dirty="0" err="1">
                <a:solidFill>
                  <a:srgbClr val="001D35"/>
                </a:solidFill>
                <a:effectLst/>
                <a:latin typeface="Google Sans"/>
              </a:rPr>
              <a:t>parámetros</a:t>
            </a:r>
            <a:r>
              <a:rPr lang="en-US" sz="4400" b="0" i="0" dirty="0">
                <a:solidFill>
                  <a:srgbClr val="001D35"/>
                </a:solidFill>
                <a:effectLst/>
                <a:latin typeface="Google Sans"/>
              </a:rPr>
              <a:t>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400" b="1" i="0" dirty="0">
                <a:solidFill>
                  <a:srgbClr val="001D35"/>
                </a:solidFill>
                <a:effectLst/>
                <a:latin typeface="Google Sans"/>
              </a:rPr>
              <a:t> </a:t>
            </a:r>
            <a:r>
              <a:rPr lang="en-US" sz="4400" b="1" i="0" dirty="0" err="1">
                <a:solidFill>
                  <a:srgbClr val="001D35"/>
                </a:solidFill>
                <a:effectLst/>
                <a:latin typeface="Google Sans"/>
              </a:rPr>
              <a:t>Swin</a:t>
            </a:r>
            <a:r>
              <a:rPr lang="en-US" sz="4400" b="1" i="0" dirty="0">
                <a:solidFill>
                  <a:srgbClr val="001D35"/>
                </a:solidFill>
                <a:effectLst/>
                <a:latin typeface="Google Sans"/>
              </a:rPr>
              <a:t>-L (Large):</a:t>
            </a:r>
            <a:r>
              <a:rPr lang="en-US" sz="4400" b="0" i="0" dirty="0">
                <a:solidFill>
                  <a:srgbClr val="001D35"/>
                </a:solidFill>
                <a:effectLst/>
                <a:latin typeface="Google Sans"/>
              </a:rPr>
              <a:t> 197 </a:t>
            </a:r>
            <a:r>
              <a:rPr lang="en-US" sz="4400" b="0" i="0" dirty="0" err="1">
                <a:solidFill>
                  <a:srgbClr val="001D35"/>
                </a:solidFill>
                <a:effectLst/>
                <a:latin typeface="Google Sans"/>
              </a:rPr>
              <a:t>millones</a:t>
            </a:r>
            <a:r>
              <a:rPr lang="en-US" sz="4400" b="0" i="0" dirty="0">
                <a:solidFill>
                  <a:srgbClr val="001D35"/>
                </a:solidFill>
                <a:effectLst/>
                <a:latin typeface="Google Sans"/>
              </a:rPr>
              <a:t> de </a:t>
            </a:r>
            <a:r>
              <a:rPr lang="en-US" sz="4400" b="0" i="0" dirty="0" err="1">
                <a:solidFill>
                  <a:srgbClr val="001D35"/>
                </a:solidFill>
                <a:effectLst/>
                <a:latin typeface="Google Sans"/>
              </a:rPr>
              <a:t>parámetros</a:t>
            </a:r>
            <a:r>
              <a:rPr lang="en-US" sz="4400" b="0" i="0" dirty="0">
                <a:solidFill>
                  <a:srgbClr val="001D35"/>
                </a:solidFill>
                <a:effectLst/>
                <a:latin typeface="Google Sans"/>
              </a:rPr>
              <a:t>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4F1D866-CB52-4BDB-A292-F1B77FE8FB10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2115800" y="4457700"/>
            <a:ext cx="1752919" cy="1752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782992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1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2">
            <a:extLst>
              <a:ext uri="{FF2B5EF4-FFF2-40B4-BE49-F238E27FC236}">
                <a16:creationId xmlns:a16="http://schemas.microsoft.com/office/drawing/2014/main" id="{8E8777A2-5F54-4C26-B12C-A7C8DB4F0B5D}"/>
              </a:ext>
            </a:extLst>
          </p:cNvPr>
          <p:cNvGrpSpPr/>
          <p:nvPr/>
        </p:nvGrpSpPr>
        <p:grpSpPr>
          <a:xfrm>
            <a:off x="-114336" y="510219"/>
            <a:ext cx="18402336" cy="9095112"/>
            <a:chOff x="0" y="0"/>
            <a:chExt cx="4846706" cy="2395421"/>
          </a:xfrm>
        </p:grpSpPr>
        <p:sp>
          <p:nvSpPr>
            <p:cNvPr id="10" name="Freeform 3">
              <a:extLst>
                <a:ext uri="{FF2B5EF4-FFF2-40B4-BE49-F238E27FC236}">
                  <a16:creationId xmlns:a16="http://schemas.microsoft.com/office/drawing/2014/main" id="{B9E46EB2-D29D-4A78-9692-0263A8A23FDC}"/>
                </a:ext>
              </a:extLst>
            </p:cNvPr>
            <p:cNvSpPr/>
            <p:nvPr/>
          </p:nvSpPr>
          <p:spPr>
            <a:xfrm>
              <a:off x="0" y="0"/>
              <a:ext cx="4846706" cy="2395420"/>
            </a:xfrm>
            <a:custGeom>
              <a:avLst/>
              <a:gdLst/>
              <a:ahLst/>
              <a:cxnLst/>
              <a:rect l="l" t="t" r="r" b="b"/>
              <a:pathLst>
                <a:path w="4846706" h="2395420">
                  <a:moveTo>
                    <a:pt x="0" y="0"/>
                  </a:moveTo>
                  <a:lnTo>
                    <a:pt x="4846706" y="0"/>
                  </a:lnTo>
                  <a:lnTo>
                    <a:pt x="4846706" y="2395420"/>
                  </a:lnTo>
                  <a:lnTo>
                    <a:pt x="0" y="239542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id="11" name="TextBox 4">
              <a:extLst>
                <a:ext uri="{FF2B5EF4-FFF2-40B4-BE49-F238E27FC236}">
                  <a16:creationId xmlns:a16="http://schemas.microsoft.com/office/drawing/2014/main" id="{02EAE962-8488-49E6-B6E0-A95070AB0737}"/>
                </a:ext>
              </a:extLst>
            </p:cNvPr>
            <p:cNvSpPr txBox="1"/>
            <p:nvPr/>
          </p:nvSpPr>
          <p:spPr>
            <a:xfrm>
              <a:off x="0" y="-38100"/>
              <a:ext cx="4846706" cy="24335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upo 16">
            <a:extLst>
              <a:ext uri="{FF2B5EF4-FFF2-40B4-BE49-F238E27FC236}">
                <a16:creationId xmlns:a16="http://schemas.microsoft.com/office/drawing/2014/main" id="{9DE57516-8DED-45EA-A008-2A93540F1B29}"/>
              </a:ext>
            </a:extLst>
          </p:cNvPr>
          <p:cNvGrpSpPr/>
          <p:nvPr/>
        </p:nvGrpSpPr>
        <p:grpSpPr>
          <a:xfrm>
            <a:off x="4759800" y="6865799"/>
            <a:ext cx="8768400" cy="2520000"/>
            <a:chOff x="457200" y="7353300"/>
            <a:chExt cx="8768400" cy="2520000"/>
          </a:xfrm>
        </p:grpSpPr>
        <p:pic>
          <p:nvPicPr>
            <p:cNvPr id="18" name="Picture 2" descr="Laboratorio Interdisciplinario de Cómputo Científico, UNAM">
              <a:extLst>
                <a:ext uri="{FF2B5EF4-FFF2-40B4-BE49-F238E27FC236}">
                  <a16:creationId xmlns:a16="http://schemas.microsoft.com/office/drawing/2014/main" id="{782E399D-5C69-412D-B790-4B67E801B95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05600" y="7353300"/>
              <a:ext cx="2520000" cy="252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4" descr="ENES Morelia">
              <a:extLst>
                <a:ext uri="{FF2B5EF4-FFF2-40B4-BE49-F238E27FC236}">
                  <a16:creationId xmlns:a16="http://schemas.microsoft.com/office/drawing/2014/main" id="{B20F42A6-8C92-4E9D-B9ED-AB3BD23B8B7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634" t="25194" r="19984" b="26227"/>
            <a:stretch/>
          </p:blipFill>
          <p:spPr bwMode="auto">
            <a:xfrm>
              <a:off x="457200" y="7353300"/>
              <a:ext cx="5897873" cy="252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0" name="CuadroTexto 19">
            <a:extLst>
              <a:ext uri="{FF2B5EF4-FFF2-40B4-BE49-F238E27FC236}">
                <a16:creationId xmlns:a16="http://schemas.microsoft.com/office/drawing/2014/main" id="{DC21CC38-A461-46F3-9A8F-102928AF98C0}"/>
              </a:ext>
            </a:extLst>
          </p:cNvPr>
          <p:cNvSpPr txBox="1"/>
          <p:nvPr/>
        </p:nvSpPr>
        <p:spPr>
          <a:xfrm>
            <a:off x="3429000" y="1409700"/>
            <a:ext cx="114300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6000" cap="small" dirty="0"/>
              <a:t>Gracias por su atención</a:t>
            </a:r>
            <a:endParaRPr lang="es-MX" sz="4000" cap="small" dirty="0"/>
          </a:p>
          <a:p>
            <a:pPr algn="ctr"/>
            <a:endParaRPr lang="es-MX" sz="4000" dirty="0"/>
          </a:p>
          <a:p>
            <a:pPr algn="ctr"/>
            <a:endParaRPr lang="es-MX" sz="4000" dirty="0"/>
          </a:p>
          <a:p>
            <a:pPr algn="ctr"/>
            <a:r>
              <a:rPr lang="es-MX" sz="4000" dirty="0">
                <a:latin typeface="Arial Narrow" panose="020B0606020202030204" pitchFamily="34" charset="0"/>
              </a:rPr>
              <a:t>Sergio Rogelio Tinoco Martínez</a:t>
            </a:r>
          </a:p>
          <a:p>
            <a:pPr algn="ctr"/>
            <a:r>
              <a:rPr lang="es-MX" sz="4000" dirty="0">
                <a:latin typeface="Arial Narrow" panose="020B0606020202030204" pitchFamily="34" charset="0"/>
                <a:hlinkClick r:id="rId4"/>
              </a:rPr>
              <a:t>stinoco@enesmorelia.unam.mx</a:t>
            </a:r>
            <a:endParaRPr lang="es-MX" sz="40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877870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1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89862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</TotalTime>
  <Words>846</Words>
  <Application>Microsoft Office PowerPoint</Application>
  <PresentationFormat>Personalizado</PresentationFormat>
  <Paragraphs>124</Paragraphs>
  <Slides>36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13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36</vt:i4>
      </vt:variant>
    </vt:vector>
  </HeadingPairs>
  <TitlesOfParts>
    <vt:vector size="50" baseType="lpstr">
      <vt:lpstr>Arial</vt:lpstr>
      <vt:lpstr>Canva Sans</vt:lpstr>
      <vt:lpstr>Red Hat Display</vt:lpstr>
      <vt:lpstr>Google Sans</vt:lpstr>
      <vt:lpstr>Red Hat Display Bold</vt:lpstr>
      <vt:lpstr>Arial Narrow</vt:lpstr>
      <vt:lpstr>Cambria Math</vt:lpstr>
      <vt:lpstr>Open Sans</vt:lpstr>
      <vt:lpstr>Calibri</vt:lpstr>
      <vt:lpstr>Open Sans Bold</vt:lpstr>
      <vt:lpstr>Canva Sans Italics</vt:lpstr>
      <vt:lpstr>Canva Sans Bold</vt:lpstr>
      <vt:lpstr>Canva Sans Bold Italics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presentacion_drluis</dc:title>
  <cp:lastModifiedBy>Angeles Fabian</cp:lastModifiedBy>
  <cp:revision>26</cp:revision>
  <dcterms:created xsi:type="dcterms:W3CDTF">2006-08-16T00:00:00Z</dcterms:created>
  <dcterms:modified xsi:type="dcterms:W3CDTF">2025-10-22T23:54:59Z</dcterms:modified>
  <dc:identifier>DAG1oTmC1DI</dc:identifier>
</cp:coreProperties>
</file>